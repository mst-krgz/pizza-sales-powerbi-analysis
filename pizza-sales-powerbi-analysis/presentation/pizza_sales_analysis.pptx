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1.xml" ContentType="application/vnd.ms-office.webextension+xml"/>
  <Override PartName="/ppt/notesSlides/notesSlide10.xml" ContentType="application/vnd.openxmlformats-officedocument.presentationml.notesSlide+xml"/>
  <Override PartName="/ppt/webextensions/webextension2.xml" ContentType="application/vnd.ms-office.webextension+xml"/>
  <Override PartName="/ppt/notesSlides/notesSlide11.xml" ContentType="application/vnd.openxmlformats-officedocument.presentationml.notesSlide+xml"/>
  <Override PartName="/ppt/webextensions/webextension3.xml" ContentType="application/vnd.ms-office.webextension+xml"/>
  <Override PartName="/ppt/notesSlides/notesSlide12.xml" ContentType="application/vnd.openxmlformats-officedocument.presentationml.notesSlide+xml"/>
  <Override PartName="/ppt/webextensions/webextension4.xml" ContentType="application/vnd.ms-office.webextension+xml"/>
  <Override PartName="/ppt/notesSlides/notesSlide13.xml" ContentType="application/vnd.openxmlformats-officedocument.presentationml.notesSlide+xml"/>
  <Override PartName="/ppt/webextensions/webextension5.xml" ContentType="application/vnd.ms-office.webextension+xml"/>
  <Override PartName="/ppt/notesSlides/notesSlide14.xml" ContentType="application/vnd.openxmlformats-officedocument.presentationml.notesSlide+xml"/>
  <Override PartName="/ppt/webextensions/webextension6.xml" ContentType="application/vnd.ms-office.webextension+xml"/>
  <Override PartName="/ppt/notesSlides/notesSlide15.xml" ContentType="application/vnd.openxmlformats-officedocument.presentationml.notesSlide+xml"/>
  <Override PartName="/ppt/webextensions/webextension7.xml" ContentType="application/vnd.ms-office.webextension+xml"/>
  <Override PartName="/ppt/notesSlides/notesSlide16.xml" ContentType="application/vnd.openxmlformats-officedocument.presentationml.notesSlide+xml"/>
  <Override PartName="/ppt/webextensions/webextension8.xml" ContentType="application/vnd.ms-office.webextension+xml"/>
  <Override PartName="/ppt/notesSlides/notesSlide17.xml" ContentType="application/vnd.openxmlformats-officedocument.presentationml.notesSlide+xml"/>
  <Override PartName="/ppt/webextensions/webextension9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74" r:id="rId10"/>
    <p:sldId id="265" r:id="rId11"/>
    <p:sldId id="266" r:id="rId12"/>
    <p:sldId id="267" r:id="rId13"/>
    <p:sldId id="270" r:id="rId14"/>
    <p:sldId id="277" r:id="rId15"/>
    <p:sldId id="263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77205" autoAdjust="0"/>
  </p:normalViewPr>
  <p:slideViewPr>
    <p:cSldViewPr snapToGrid="0" snapToObjects="1">
      <p:cViewPr varScale="1">
        <p:scale>
          <a:sx n="126" d="100"/>
          <a:sy n="126" d="100"/>
        </p:scale>
        <p:origin x="1110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700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7F7F-6338-C1E3-94E2-0CC0353D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E1FCC-67E5-A9E0-76F9-D47F40586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CB4E0-B3C0-8969-7108-7DA1A490F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C2C42-89C9-E0CA-B7F4-1F9559D4D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80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9646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9473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1106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6690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0318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106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5904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8492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755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6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1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577840" y="365760"/>
            <a:ext cx="3291840" cy="3291840"/>
          </a:xfrm>
          <a:prstGeom prst="ellipse">
            <a:avLst/>
          </a:prstGeom>
          <a:solidFill>
            <a:srgbClr val="122040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577840" y="365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</a:rPr>
              <a:t>🍕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BA3C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Analyse 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Pizzaverkäufe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2015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A3C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Power BI Abschlussprojekt – Projekt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MK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187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von Mesut Karagöz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4434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🐢</a:t>
            </a:r>
            <a:endParaRPr lang="en-US" sz="2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Gliederung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🍕  Datensatz &amp; Datenmodell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⚙️  Datenvorbereitung – Power Query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📐  DAX &amp; </a:t>
            </a:r>
            <a:r>
              <a:rPr lang="en-US" sz="22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Measures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📊  Explorative Datenanalyse (EDA)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F03A5F6F-DC78-F48D-DE94-55DD84D89E5A}"/>
              </a:ext>
            </a:extLst>
          </p:cNvPr>
          <p:cNvSpPr/>
          <p:nvPr/>
        </p:nvSpPr>
        <p:spPr>
          <a:xfrm>
            <a:off x="8755200" y="4846320"/>
            <a:ext cx="38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4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2112937-4E13-58B9-C24E-349B1BC1DA3F}"/>
              </a:ext>
            </a:extLst>
          </p:cNvPr>
          <p:cNvSpPr txBox="1"/>
          <p:nvPr/>
        </p:nvSpPr>
        <p:spPr>
          <a:xfrm>
            <a:off x="640080" y="3983774"/>
            <a:ext cx="457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      Live-Demo</a:t>
            </a:r>
            <a:r>
              <a:rPr lang="de-DE" dirty="0"/>
              <a:t> </a:t>
            </a:r>
            <a:r>
              <a:rPr lang="de-DE" sz="22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des</a:t>
            </a:r>
            <a:r>
              <a:rPr lang="de-DE" dirty="0"/>
              <a:t> </a:t>
            </a:r>
            <a:r>
              <a:rPr lang="de-DE" sz="22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Power-BI-Reports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DBBAB8B-25C7-B585-3C5B-597635259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52" y="3983774"/>
            <a:ext cx="413948" cy="3631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32607-E819-AFF6-4F73-DA7821C9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B8E17A-1CBF-E4DD-65A9-6325A755A552}"/>
              </a:ext>
            </a:extLst>
          </p:cNvPr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93C819-4522-FCE0-7CBB-3593405D3BF4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0D3FED-9CB6-A07E-2E30-81DA375A3352}"/>
              </a:ext>
            </a:extLst>
          </p:cNvPr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3ADE9340-5731-40BC-DA1A-4538E0D22783}"/>
              </a:ext>
            </a:extLst>
          </p:cNvPr>
          <p:cNvSpPr/>
          <p:nvPr/>
        </p:nvSpPr>
        <p:spPr>
          <a:xfrm>
            <a:off x="86868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4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36F9C6B-2597-0BB2-A09B-A46346A7978F}"/>
              </a:ext>
            </a:extLst>
          </p:cNvPr>
          <p:cNvSpPr/>
          <p:nvPr/>
        </p:nvSpPr>
        <p:spPr>
          <a:xfrm>
            <a:off x="609600" y="563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Projektziel</a:t>
            </a:r>
            <a:endParaRPr lang="en-US" sz="40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38E7F34-A403-E436-024E-1E187396C47A}"/>
              </a:ext>
            </a:extLst>
          </p:cNvPr>
          <p:cNvSpPr/>
          <p:nvPr/>
        </p:nvSpPr>
        <p:spPr>
          <a:xfrm>
            <a:off x="411480" y="1600200"/>
            <a:ext cx="1920240" cy="1417320"/>
          </a:xfrm>
          <a:prstGeom prst="rect">
            <a:avLst/>
          </a:prstGeom>
          <a:solidFill>
            <a:srgbClr val="1220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C4E4367-0A77-613D-E983-A66EA20EE1DB}"/>
              </a:ext>
            </a:extLst>
          </p:cNvPr>
          <p:cNvSpPr txBox="1"/>
          <p:nvPr/>
        </p:nvSpPr>
        <p:spPr>
          <a:xfrm>
            <a:off x="609600" y="1925419"/>
            <a:ext cx="147297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📈</a:t>
            </a:r>
          </a:p>
          <a:p>
            <a:pPr algn="ctr"/>
            <a:r>
              <a:rPr lang="de-DE" dirty="0"/>
              <a:t> </a:t>
            </a:r>
          </a:p>
          <a:p>
            <a:pPr algn="ctr"/>
            <a:r>
              <a:rPr lang="de-DE" sz="1300" dirty="0">
                <a:solidFill>
                  <a:srgbClr val="F5A623"/>
                </a:solidFill>
                <a:latin typeface="Segoe UI" pitchFamily="34" charset="0"/>
                <a:cs typeface="Segoe UI" pitchFamily="34" charset="-120"/>
              </a:rPr>
              <a:t>Umsatz</a:t>
            </a: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076C5CF2-7080-7C79-BA91-F941174A96EA}"/>
              </a:ext>
            </a:extLst>
          </p:cNvPr>
          <p:cNvSpPr/>
          <p:nvPr/>
        </p:nvSpPr>
        <p:spPr>
          <a:xfrm>
            <a:off x="3691128" y="1600200"/>
            <a:ext cx="1920240" cy="1417320"/>
          </a:xfrm>
          <a:prstGeom prst="rect">
            <a:avLst/>
          </a:prstGeom>
          <a:solidFill>
            <a:srgbClr val="1220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pPr algn="ctr"/>
            <a:endParaRPr lang="de-DE" dirty="0"/>
          </a:p>
          <a:p>
            <a:pPr algn="ctr"/>
            <a:r>
              <a:rPr lang="de-DE" dirty="0"/>
              <a:t>📦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 </a:t>
            </a:r>
            <a:r>
              <a:rPr lang="de-DE" sz="1300" dirty="0">
                <a:solidFill>
                  <a:srgbClr val="F5A623"/>
                </a:solidFill>
                <a:latin typeface="Segoe UI" pitchFamily="34" charset="0"/>
                <a:cs typeface="Segoe UI" pitchFamily="34" charset="-120"/>
              </a:rPr>
              <a:t>Sortiment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749B447D-3C1A-D446-50B3-239EED59D4F8}"/>
              </a:ext>
            </a:extLst>
          </p:cNvPr>
          <p:cNvSpPr/>
          <p:nvPr/>
        </p:nvSpPr>
        <p:spPr>
          <a:xfrm>
            <a:off x="6766560" y="1600200"/>
            <a:ext cx="2072640" cy="1417320"/>
          </a:xfrm>
          <a:prstGeom prst="rect">
            <a:avLst/>
          </a:prstGeom>
          <a:solidFill>
            <a:srgbClr val="1220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pPr algn="ctr"/>
            <a:endParaRPr lang="de-DE" dirty="0"/>
          </a:p>
          <a:p>
            <a:pPr algn="ctr"/>
            <a:r>
              <a:rPr lang="de-DE" dirty="0">
                <a:solidFill>
                  <a:schemeClr val="bg1"/>
                </a:solidFill>
              </a:rPr>
              <a:t>⏱</a:t>
            </a:r>
            <a:r>
              <a:rPr lang="de-DE" dirty="0"/>
              <a:t> </a:t>
            </a:r>
          </a:p>
          <a:p>
            <a:pPr algn="ctr"/>
            <a:endParaRPr lang="de-DE" dirty="0"/>
          </a:p>
          <a:p>
            <a:pPr algn="ctr"/>
            <a:r>
              <a:rPr lang="de-DE" sz="1300" dirty="0">
                <a:solidFill>
                  <a:srgbClr val="F5A623"/>
                </a:solidFill>
                <a:latin typeface="Segoe UI" pitchFamily="34" charset="0"/>
                <a:cs typeface="Segoe UI" pitchFamily="34" charset="-120"/>
              </a:rPr>
              <a:t>Nachfrageverhalten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3E2EC18-663B-6261-4DF5-FCCD2C6EF2F6}"/>
              </a:ext>
            </a:extLst>
          </p:cNvPr>
          <p:cNvSpPr txBox="1"/>
          <p:nvPr/>
        </p:nvSpPr>
        <p:spPr>
          <a:xfrm>
            <a:off x="1542553" y="3342739"/>
            <a:ext cx="6249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Ziel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dieses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Projekts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ist es,</a:t>
            </a:r>
            <a:br>
              <a:rPr lang="de-DE" dirty="0"/>
            </a:b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die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Verkaufsdaten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von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Plato’s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Pizza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systematisch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zu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analysieren</a:t>
            </a:r>
            <a:r>
              <a:rPr lang="de-DE" dirty="0"/>
              <a:t>,</a:t>
            </a:r>
            <a:br>
              <a:rPr lang="de-DE" dirty="0"/>
            </a:b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um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datenbasierte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strategische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Entscheidungen</a:t>
            </a:r>
            <a:br>
              <a:rPr lang="de-DE" dirty="0"/>
            </a:b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zur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Umsatzsteigerung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und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Sortimentsoptimierung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abzuleiten.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7541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Datensatz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A3C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Plato's Pizza · 01.01.2015 – 31.12.2015 · Quelle: Maven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920240" cy="1417320"/>
          </a:xfrm>
          <a:prstGeom prst="rect">
            <a:avLst/>
          </a:prstGeom>
          <a:solidFill>
            <a:srgbClr val="1220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🧾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21.350 Zeilen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1920240" cy="1417320"/>
          </a:xfrm>
          <a:prstGeom prst="rect">
            <a:avLst/>
          </a:prstGeom>
          <a:solidFill>
            <a:srgbClr val="1220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56032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📋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6032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order_details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6032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48.620 Zeilen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1920240" cy="1417320"/>
          </a:xfrm>
          <a:prstGeom prst="rect">
            <a:avLst/>
          </a:prstGeom>
          <a:solidFill>
            <a:srgbClr val="1220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0916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🍕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0916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pizzas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0916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 SKUs Zeilen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600200"/>
            <a:ext cx="1920240" cy="1417320"/>
          </a:xfrm>
          <a:prstGeom prst="rect">
            <a:avLst/>
          </a:prstGeom>
          <a:solidFill>
            <a:srgbClr val="1220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85800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📂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5800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pizza_types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Typen Zeilen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</a:rPr>
              <a:t>Datenquellen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63931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•  Maven Analytics / Plato's Pizza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•  4 CSV-</a:t>
            </a:r>
            <a:r>
              <a:rPr lang="en-US" sz="1700" dirty="0" err="1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Dateien</a:t>
            </a: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</a:rPr>
              <a:t>Herausforderungen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363931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•  Kein Kundenbezug vorhanden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•  Nur 1 Geschäftsjahr verfügbar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4"/>
                </a:solidFill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Datenvorbereitung in Power Query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8196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 CSV-Dateien geladen · Datentypen korrekt gesetzt · kein Datenverlust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Bereinigung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91693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Duplikate  - Nullwerte geprüft · Preisspalte als Dezimal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68503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611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4014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600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Snowflake</a:t>
            </a:r>
            <a:r>
              <a:rPr lang="de-DE" sz="1600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Schema</a:t>
            </a: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aufgebaut · DimDate via DAX · 1:n Beziehungen gesetzt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4580259"/>
            <a:ext cx="8229600" cy="292608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09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</a:rPr>
              <a:t>✓  Ergebnis: Saubere Tabellen · kein Datenverlust · bereit für Analyse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69096" y="4846320"/>
            <a:ext cx="374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4"/>
                </a:solidFill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&amp; Measures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</a:rPr>
              <a:t>📅  DimDate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Erstellt via </a:t>
            </a:r>
            <a:r>
              <a:rPr lang="de-DE" sz="1600" dirty="0">
                <a:solidFill>
                  <a:schemeClr val="bg1"/>
                </a:solidFill>
              </a:rPr>
              <a:t>CALENDAR(MinDate, MaxDate)</a:t>
            </a:r>
            <a:endParaRPr lang="en-US" sz="1700" dirty="0">
              <a:solidFill>
                <a:schemeClr val="bg1"/>
              </a:solidFill>
              <a:latin typeface="Segoe UI Light" pitchFamily="34" charset="0"/>
              <a:cs typeface="Segoe UI Light" pitchFamily="34" charset="-120"/>
            </a:endParaRPr>
          </a:p>
          <a:p>
            <a:r>
              <a:rPr lang="en-US" sz="1700" dirty="0">
                <a:solidFill>
                  <a:schemeClr val="bg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</a:t>
            </a: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Jahr · Quartal · Monat · Saison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→ Als Datumstabelle markiert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</a:rPr>
              <a:t>📐  Key Measures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16642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→  Gesamtumsatz (SUMX + RELATED)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21396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→  Durchschnittlicher Bestellwert (DIVIDE)</a:t>
            </a:r>
            <a:r>
              <a:rPr lang="en-US" sz="1700" dirty="0">
                <a:solidFill>
                  <a:srgbClr val="0D1B2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)</a:t>
            </a:r>
            <a:endParaRPr lang="en-US" sz="1700" dirty="0">
              <a:solidFill>
                <a:srgbClr val="0D1B2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261518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chemeClr val="bg1">
                    <a:lumMod val="95000"/>
                  </a:schemeClr>
                </a:solidFill>
                <a:latin typeface="Segoe Fluent Icons" panose="050A0102010101010101" pitchFamily="18" charset="0"/>
                <a:ea typeface="Segoe UI Light" pitchFamily="34" charset="-122"/>
                <a:cs typeface="Segoe UI Light" pitchFamily="34" charset="-120"/>
              </a:rPr>
              <a:t>→ 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Bestellungen</a:t>
            </a:r>
            <a:r>
              <a:rPr lang="de-DE" sz="1600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gesamt </a:t>
            </a:r>
            <a:r>
              <a:rPr lang="de-DE" sz="16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(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DISTINCTCOUNT</a:t>
            </a:r>
            <a:r>
              <a:rPr lang="de-DE" sz="16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)</a:t>
            </a:r>
            <a:endParaRPr lang="en-US" sz="1700" dirty="0">
              <a:solidFill>
                <a:schemeClr val="bg1">
                  <a:lumMod val="95000"/>
                </a:schemeClr>
              </a:solidFill>
              <a:latin typeface="Segoe Fluent Icons" panose="050A0102010101010101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30906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→ 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Verkaufsmenge </a:t>
            </a:r>
            <a:r>
              <a:rPr lang="de-DE" sz="16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(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SUM</a:t>
            </a:r>
            <a:r>
              <a:rPr lang="de-DE" sz="16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4754" y="2971800"/>
            <a:ext cx="4062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4"/>
                </a:solidFill>
              </a:rPr>
              <a:t>5</a:t>
            </a:r>
            <a:endParaRPr lang="en-US" sz="14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70D67AE-FA3D-622F-7B96-E32E50599534}"/>
              </a:ext>
            </a:extLst>
          </p:cNvPr>
          <p:cNvSpPr txBox="1"/>
          <p:nvPr/>
        </p:nvSpPr>
        <p:spPr>
          <a:xfrm>
            <a:off x="522849" y="4040944"/>
            <a:ext cx="8346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Erstellung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einer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eigenen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Datumstabelle (DimDate)</a:t>
            </a:r>
            <a:br>
              <a:rPr lang="de-DE" dirty="0"/>
            </a:b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Strukturierung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nach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Jahr</a:t>
            </a:r>
            <a:r>
              <a:rPr lang="de-DE" dirty="0">
                <a:solidFill>
                  <a:schemeClr val="bg1"/>
                </a:solidFill>
              </a:rPr>
              <a:t>,</a:t>
            </a:r>
            <a:r>
              <a:rPr lang="de-DE" dirty="0"/>
              <a:t>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Monat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sz="1700" dirty="0">
                <a:solidFill>
                  <a:srgbClr val="FFFFFF"/>
                </a:solidFill>
                <a:latin typeface="Segoe UI Light" pitchFamily="34" charset="0"/>
                <a:cs typeface="Segoe UI Light" pitchFamily="34" charset="-120"/>
              </a:rPr>
              <a:t>Saison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Explorative Datenanalyse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0584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F7"/>
                </a:solidFill>
              </a:rPr>
              <a:t>$817.860 Gesamtumsatz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Peak: Juli · schwach: Sep/Okt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F7"/>
                </a:solidFill>
              </a:rPr>
              <a:t>Ø 38,31$ Bestellwert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45920" y="2825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2,32 Pizzen pro Bestellung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🍕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F7"/>
                </a:solidFill>
              </a:rPr>
              <a:t>38% Large, 31% Medium, 29% Small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45920" y="3968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XL/XXL &lt; 2% – kaum Nachfrage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62400" y="4846320"/>
            <a:ext cx="38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4"/>
                </a:solidFill>
              </a:rPr>
              <a:t>6</a:t>
            </a:r>
            <a:endParaRPr lang="en-US" sz="1400" dirty="0"/>
          </a:p>
        </p:txBody>
      </p:sp>
      <p:pic>
        <p:nvPicPr>
          <p:cNvPr id="25" name="Grafik 24" descr="Ein Bild, das Cartoon, Animierter Cartoon, Animation, Clipart enthält.&#10;&#10;KI-generierte Inhalte können fehlerhaft sein.">
            <a:extLst>
              <a:ext uri="{FF2B5EF4-FFF2-40B4-BE49-F238E27FC236}">
                <a16:creationId xmlns:a16="http://schemas.microsoft.com/office/drawing/2014/main" id="{C5DC9551-DB78-1B90-03FC-846F1F00A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081" y="1691640"/>
            <a:ext cx="1755971" cy="1824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311788" y="2040398"/>
            <a:ext cx="2375012" cy="149141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6020" y="1810512"/>
            <a:ext cx="2863180" cy="206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COWABUNGA!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🐢🍕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46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4"/>
                </a:solidFill>
              </a:rPr>
              <a:t>7</a:t>
            </a:r>
            <a:endParaRPr lang="en-US" sz="14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544A029-BDB7-6C42-9FDB-5F42CFD9AB7C}"/>
              </a:ext>
            </a:extLst>
          </p:cNvPr>
          <p:cNvSpPr/>
          <p:nvPr/>
        </p:nvSpPr>
        <p:spPr>
          <a:xfrm>
            <a:off x="457200" y="411480"/>
            <a:ext cx="6430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Explorative Datenanalyse</a:t>
            </a:r>
            <a:endParaRPr lang="en-US" sz="38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AF065A2-0FD3-7AD6-F69A-EEAF9E356C7B}"/>
              </a:ext>
            </a:extLst>
          </p:cNvPr>
          <p:cNvSpPr/>
          <p:nvPr/>
        </p:nvSpPr>
        <p:spPr>
          <a:xfrm>
            <a:off x="750277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67875F3-F5CF-2C93-8BC4-40EBC9E5E5C2}"/>
              </a:ext>
            </a:extLst>
          </p:cNvPr>
          <p:cNvSpPr/>
          <p:nvPr/>
        </p:nvSpPr>
        <p:spPr>
          <a:xfrm>
            <a:off x="1737360" y="12710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F7"/>
                </a:solidFill>
              </a:rPr>
              <a:t>Peak: 12:00 &amp; 18:00</a:t>
            </a:r>
            <a:endParaRPr lang="en-US" sz="19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59DE0987-BB3F-AEDD-377C-79D808590084}"/>
              </a:ext>
            </a:extLst>
          </p:cNvPr>
          <p:cNvSpPr/>
          <p:nvPr/>
        </p:nvSpPr>
        <p:spPr>
          <a:xfrm>
            <a:off x="1737360" y="167194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Mittag &amp; Abend dominieren</a:t>
            </a:r>
            <a:endParaRPr lang="en-US" sz="15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3F4CD3DD-B86C-D1DA-FFB1-031D7DCE26E0}"/>
              </a:ext>
            </a:extLst>
          </p:cNvPr>
          <p:cNvSpPr/>
          <p:nvPr/>
        </p:nvSpPr>
        <p:spPr>
          <a:xfrm>
            <a:off x="750277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584A7B4-9D11-FD60-F6E2-F1D014761AA8}"/>
              </a:ext>
            </a:extLst>
          </p:cNvPr>
          <p:cNvSpPr/>
          <p:nvPr/>
        </p:nvSpPr>
        <p:spPr>
          <a:xfrm>
            <a:off x="1737360" y="24463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4FC3F7"/>
                </a:solidFill>
              </a:rPr>
              <a:t>#1: Classic Deluxe - 2.453</a:t>
            </a:r>
            <a:r>
              <a:rPr lang="en-US" sz="2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</a:t>
            </a:r>
            <a:r>
              <a:rPr lang="en-US" sz="1900" b="1" dirty="0">
                <a:solidFill>
                  <a:srgbClr val="4FC3F7"/>
                </a:solidFill>
              </a:rPr>
              <a:t>Stück</a:t>
            </a:r>
            <a:r>
              <a:rPr lang="en-US" sz="2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</a:t>
            </a:r>
            <a:endParaRPr lang="en-US" sz="19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F1C2FCC6-2236-17BE-45DF-65FAC5FDDAFC}"/>
              </a:ext>
            </a:extLst>
          </p:cNvPr>
          <p:cNvSpPr/>
          <p:nvPr/>
        </p:nvSpPr>
        <p:spPr>
          <a:xfrm>
            <a:off x="1737360" y="285808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Brie Carre: 490</a:t>
            </a:r>
            <a:endParaRPr lang="en-US" sz="15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6FD3F556-6FA7-F572-8DC8-243824AC4AF8}"/>
              </a:ext>
            </a:extLst>
          </p:cNvPr>
          <p:cNvSpPr/>
          <p:nvPr/>
        </p:nvSpPr>
        <p:spPr>
          <a:xfrm>
            <a:off x="750277" y="3511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🐢</a:t>
            </a:r>
            <a:endParaRPr lang="en-US" sz="26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E9AB5AB-FE5B-7FE8-3DDB-A25E3C80F7AD}"/>
              </a:ext>
            </a:extLst>
          </p:cNvPr>
          <p:cNvSpPr/>
          <p:nvPr/>
        </p:nvSpPr>
        <p:spPr>
          <a:xfrm>
            <a:off x="1737360" y="35318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F7"/>
                </a:solidFill>
              </a:rPr>
              <a:t>4 Kategorien gleich stark</a:t>
            </a:r>
            <a:endParaRPr lang="en-US" sz="19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D737AAD0-B4D7-A67C-FED1-5B1A6DE5A5BF}"/>
              </a:ext>
            </a:extLst>
          </p:cNvPr>
          <p:cNvSpPr/>
          <p:nvPr/>
        </p:nvSpPr>
        <p:spPr>
          <a:xfrm>
            <a:off x="1737360" y="3976233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Classic, Supreme, Chicken, Veggie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Microsoft Power BI için eklenti içeriğ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3547663"/>
                  </p:ext>
                </p:extLst>
              </p:nvPr>
            </p:nvGraphicFramePr>
            <p:xfrm>
              <a:off x="99647" y="82062"/>
              <a:ext cx="8950569" cy="482620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Microsoft Power BI için eklenti içeriğ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647" y="82062"/>
                <a:ext cx="8950569" cy="4826201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23">
            <a:extLst>
              <a:ext uri="{FF2B5EF4-FFF2-40B4-BE49-F238E27FC236}">
                <a16:creationId xmlns:a16="http://schemas.microsoft.com/office/drawing/2014/main" id="{6C70E380-83D3-948C-765C-6FFE99885834}"/>
              </a:ext>
            </a:extLst>
          </p:cNvPr>
          <p:cNvSpPr/>
          <p:nvPr/>
        </p:nvSpPr>
        <p:spPr>
          <a:xfrm>
            <a:off x="8618400" y="4846320"/>
            <a:ext cx="525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D8330392-A154-2CB4-92CD-6F35EC5F2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4092187"/>
                  </p:ext>
                </p:extLst>
              </p:nvPr>
            </p:nvGraphicFramePr>
            <p:xfrm>
              <a:off x="93784" y="70339"/>
              <a:ext cx="8974016" cy="480842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D8330392-A154-2CB4-92CD-6F35EC5F24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784" y="70339"/>
                <a:ext cx="8974016" cy="4808428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C9C512B5-EDA7-3E38-6CC8-B1034B23583A}"/>
              </a:ext>
            </a:extLst>
          </p:cNvPr>
          <p:cNvSpPr/>
          <p:nvPr/>
        </p:nvSpPr>
        <p:spPr>
          <a:xfrm>
            <a:off x="8748000" y="4846320"/>
            <a:ext cx="396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29367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C36E133D-4B24-A327-CDEA-8A4F3FF983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533523"/>
                  </p:ext>
                </p:extLst>
              </p:nvPr>
            </p:nvGraphicFramePr>
            <p:xfrm>
              <a:off x="70339" y="93785"/>
              <a:ext cx="8991600" cy="479088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C36E133D-4B24-A327-CDEA-8A4F3FF983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39" y="93785"/>
                <a:ext cx="8991600" cy="47908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D6DD8CB6-618D-5C70-9C93-A50770FA05CC}"/>
              </a:ext>
            </a:extLst>
          </p:cNvPr>
          <p:cNvSpPr/>
          <p:nvPr/>
        </p:nvSpPr>
        <p:spPr>
          <a:xfrm>
            <a:off x="8589600" y="4846320"/>
            <a:ext cx="55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0840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B7D14871-D118-7EAB-74B1-27F4306BDE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212800"/>
                  </p:ext>
                </p:extLst>
              </p:nvPr>
            </p:nvGraphicFramePr>
            <p:xfrm>
              <a:off x="46893" y="58616"/>
              <a:ext cx="9038492" cy="483784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B7D14871-D118-7EAB-74B1-27F4306BDE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93" y="58616"/>
                <a:ext cx="9038492" cy="483784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EDA2778D-68E6-3BAC-E505-A3095C070758}"/>
              </a:ext>
            </a:extLst>
          </p:cNvPr>
          <p:cNvSpPr/>
          <p:nvPr/>
        </p:nvSpPr>
        <p:spPr>
          <a:xfrm>
            <a:off x="8697600" y="4846320"/>
            <a:ext cx="44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60287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21DB40C4-B89B-9B71-EEEA-A6F1356BD8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6960262"/>
                  </p:ext>
                </p:extLst>
              </p:nvPr>
            </p:nvGraphicFramePr>
            <p:xfrm>
              <a:off x="58615" y="46892"/>
              <a:ext cx="9015046" cy="484957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21DB40C4-B89B-9B71-EEEA-A6F1356BD8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15" y="46892"/>
                <a:ext cx="9015046" cy="4849573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181EB43D-6E50-63FE-0BA0-106012AE7646}"/>
              </a:ext>
            </a:extLst>
          </p:cNvPr>
          <p:cNvSpPr/>
          <p:nvPr/>
        </p:nvSpPr>
        <p:spPr>
          <a:xfrm>
            <a:off x="8683200" y="4846320"/>
            <a:ext cx="46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5971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AD7C-361D-C638-751B-71D4EB0F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5F4B4678-3624-C97F-1132-5E23267BA7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268282"/>
                  </p:ext>
                </p:extLst>
              </p:nvPr>
            </p:nvGraphicFramePr>
            <p:xfrm>
              <a:off x="78205" y="72189"/>
              <a:ext cx="8975558" cy="47741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5F4B4678-3624-C97F-1132-5E23267BA7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205" y="72189"/>
                <a:ext cx="8975558" cy="477413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2A9136DD-BA93-C1EF-ADF1-C12DDCA848DB}"/>
              </a:ext>
            </a:extLst>
          </p:cNvPr>
          <p:cNvSpPr/>
          <p:nvPr/>
        </p:nvSpPr>
        <p:spPr>
          <a:xfrm>
            <a:off x="8640000" y="4846320"/>
            <a:ext cx="50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11464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D45DA11D-56B7-FE6A-BCE9-64D596A36C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0861731"/>
                  </p:ext>
                </p:extLst>
              </p:nvPr>
            </p:nvGraphicFramePr>
            <p:xfrm>
              <a:off x="70339" y="76200"/>
              <a:ext cx="8991600" cy="474947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D45DA11D-56B7-FE6A-BCE9-64D596A36C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39" y="76200"/>
                <a:ext cx="8991600" cy="474947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08301BFF-3926-A34F-B51F-744120602E22}"/>
              </a:ext>
            </a:extLst>
          </p:cNvPr>
          <p:cNvSpPr/>
          <p:nvPr/>
        </p:nvSpPr>
        <p:spPr>
          <a:xfrm>
            <a:off x="8654400" y="4846320"/>
            <a:ext cx="48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55434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4D30C8C7-2C4A-05D6-EC23-779897B480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6685772"/>
                  </p:ext>
                </p:extLst>
              </p:nvPr>
            </p:nvGraphicFramePr>
            <p:xfrm>
              <a:off x="76200" y="70339"/>
              <a:ext cx="8968154" cy="479072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4D30C8C7-2C4A-05D6-EC23-779897B480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00" y="70339"/>
                <a:ext cx="8968154" cy="479072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EA14C336-2783-F64B-9A47-2F6C16D65F3B}"/>
              </a:ext>
            </a:extLst>
          </p:cNvPr>
          <p:cNvSpPr/>
          <p:nvPr/>
        </p:nvSpPr>
        <p:spPr>
          <a:xfrm>
            <a:off x="8676000" y="4846320"/>
            <a:ext cx="468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1886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14DDB0E3-BC66-AE4A-2C75-A394F3911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4850125"/>
                  </p:ext>
                </p:extLst>
              </p:nvPr>
            </p:nvGraphicFramePr>
            <p:xfrm>
              <a:off x="3132557" y="1073684"/>
              <a:ext cx="3386230" cy="248952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14DDB0E3-BC66-AE4A-2C75-A394F39118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2557" y="1073684"/>
                <a:ext cx="3386230" cy="2489526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23">
            <a:extLst>
              <a:ext uri="{FF2B5EF4-FFF2-40B4-BE49-F238E27FC236}">
                <a16:creationId xmlns:a16="http://schemas.microsoft.com/office/drawing/2014/main" id="{AD78ADE3-C182-3018-358C-0B46ECB2B46F}"/>
              </a:ext>
            </a:extLst>
          </p:cNvPr>
          <p:cNvSpPr/>
          <p:nvPr/>
        </p:nvSpPr>
        <p:spPr>
          <a:xfrm>
            <a:off x="8524800" y="4846320"/>
            <a:ext cx="61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48466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webextension1.xml><?xml version="1.0" encoding="utf-8"?>
<we:webextension xmlns:we="http://schemas.microsoft.com/office/webextensions/webextension/2010/11" id="{fda38903-2d4c-47d1-ad78-f5b301ef363b}">
  <we:reference id="WA200003233" version="2.0.0.3" store="tr-TR" storeType="OMEX"/>
  <we:alternateReferences/>
  <we:properties>
    <we:property name="Microsoft.Office.CampaignId" value="&quot;none&quot;"/>
    <we:property name="artifactViewState" value="&quot;live&quot;"/>
    <we:property name="backgroundColor" value="&quot;#2F1F17&quot;"/>
    <we:property name="bookmark" value="&quot;H4sIAAAAAAAAA52TwW7kIAyGX2XFebSCAMHpda/VqlJXvVQ9GDAtKyaJAlO1Hc27LySVeulqpFwSbMz3/ybxmfmY54Tvv/FI7IbdUqYPiu6Fxh+GHdi4pZVGBC75wMGQJgTndd2d5hKnMbObMyu4PFN5iPmEqbFq8vHpwDClO3xuUcCU6cBmWvI0YooftBXXrbKc6HJg9DanacGGvC9YqGFfa3mNqwXxU1ZFdCW+0j25smWtgo46kj0NwEF7h6hqWd4KVmffljT0Kv9rGgvGscq0HEmS3oCAwMGSNgYUtnyO43P6NPx19s/73C4nHmuH7Tbs3yrbOJdLbQek5j13CkRQJgRrNPRXWfkF529Y1gSohoJTioag/SC73SxBxutOcu6BG2d6BG33soxDoYPyYLnlwloa+rCXpRGs6aoxxK7Xjjtv+F4WOt2JIYhQ/YA30hhxvcf/fEdF3CjtPFkjnTSDAC72+uoGzkl466UN0Hnund/JWnFfGXakOn9tMZ1KntHRHY41fjyzeZnq0JVI2x/+NuPoyX+ul/a+jYWWTfgB06lprtPKVpHqJdpEVw60GWarraf2+AcHNlutWAQAAA==&quot;"/>
    <we:property name="creatorSessionId" value="&quot;046ecd95-a4a0-4ee1-93d6-1b4b51441bee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52TTW/cIBCG/0rFeVWBAYNzS6ue8qmmyiWKogGGDRVrW4aNkqz2vxfsSLmkWskXw7wenncYMQfiQhojvF3DDskZucSE7xjsM/bfFNmQfpF/3NxcXJ3/vni6Pr/6VeRhzGHoEzk7kAzTFvN9SHuIFVLEh8cNgRhvYVsjDzHhhow4paGHGN5xSS6/8rTH44bg6xiHCSryLkPGin0p6SUu3uw7L45gc3jBO7R5UY3QDTbIW+w01dJZAFHS0pIwV/ZlSkXP9j+HPkPoi03VkCN3SjPtqTYoldICqp5Cv40fBX+e/fM21q6EXblh7Yb5W2wr53gs19Fc0pZaoZkXynujpG5PstIzjF+wjPK6FOStENh56TrerGYxVE42nFKnqbKqBS3NWpaywKQXThtqKDMGu9avZTUdpciccdx43TjqrGNrWQKpEtI6NIpbrjqm6WoWWNmwzjNf7qad4kqx0/36z5uQoI1qSvMBmlZaap2i6+qacZ8K2WGZv7oZ9jmNYPEW+hI/HMg4DWXocsDlhb+O0Dt0H/uprpch47QY30PcV895WslsUmoJJuKJA3WGyVzWY/38A9ZPpbJRBAAA&quot;"/>
    <we:property name="isFiltersActionButtonVisible" value="true"/>
    <we:property name="isVisualContainerHeaderHidden" value="false"/>
    <we:property name="pageDisplayName" value="&quot;Navigation&quot;"/>
    <we:property name="pageName" value="&quot;b482e2e36e98085dcaa4&quot;"/>
    <we:property name="reportEmbeddedTime" value="&quot;2026-02-28T11:49:51.125Z&quot;"/>
    <we:property name="reportName" value="&quot;Pizza_Sales_final&quot;"/>
    <we:property name="reportState" value="&quot;CONNECTED&quot;"/>
    <we:property name="reportUrl" value="&quot;/groups/me/reports/8835a16b-bee0-4dce-9b61-f3fd2d8d9689/b482e2e36e98085dcaa4?bookmarkGuid=82a124b3-375f-43aa-b94c-2a9950ff12f9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1119F0B-DB4E-46E9-943E-F55F68D34B6B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1354E&quot;"/>
    <we:property name="bookmark" value="&quot;H4sIAAAAAAAAA+1abW/bNhD+K4G+9Is7iJKol3xrkm7tmnZpHaQYhqA4kSebnSx5EpUmKfI/9n/2x3airMTxux3HTYEUaRCRx+Pdcy88nvTdkqocpnD1AQZo7VvHWOI1KtHHbC+wOlbWDLtx6NiB4zleAFzaGAY20mw+1CrPSmv/u6Wh6KE+U2UFac2LBv8671iQpifQq58SSEvsWEMsyjyDVF1jQ0xTuqjwpmPh5TDNC6hZdjVorNleEDk9kwjsF8ZoSxBaXWAXhW6GHR4nIQ9dL4mZ9IMIhOREVjYERrSZJDVvs/9hnmlQGe1Tj8XcS2wfbCFcjFjsBTJi9Xipsl46kvhu7enVsEYHzF4HldYkEqESf6Xda3Y3N6SWHUIY28J2uOtxj9CLHP+BLDERiYykLwTEsW0L17XtmkWiUt0qcvX6cliQEcg0DctX8gIygdIySBdYNsB+t94jlFVh4H59b6KbV4XAT5iYqUwrfUV88kJi8UUioUbGq8U5KXIyq5k8w+JvqBKNeyfq+pqciGwPA23I+vm3wwLJsNLat2/OaWQhBAIKOZqaxpQ5ZEgn8D3BXD+0fRHwzQE4zNNqkK2l/5Tif9Sje29oxQxdO8tleNXrFdgDPXp8vXUBG7MpacZ/rbJRAPENLJNSuBz2odD3DdMGJ236dSz8DolvLy+ujCm2DvW58QfXZYEtPT9MEolBIKXHowfGmAvkXJQpfHBtYBH6XrjcxU7z4Qdi1dDUJGdt/nII9CIfGOJRri2r+J8KCZjOJBjtBP39sf1jEadhzaIFbUiBB19qgUoabnQ1LjgizseJ7wfzHTml7i6mhMfqVmsejDQTBjOHCA2NBEgUpuSGtIWx5EHjGUeqaJM6mwRktQx1K0A+KcBpriHd+1hBozbZlzYnWxn3v2m1dsZAWgFRYvG5j7VUBqFMqjZ4305AVW4PRCM4xCnOX3nrVjf1v/Obh2W7cd1nS7RBstvmiTNl27XTWVJlGaaTuSyf7ZvOZr65oS61ubedVJdbtMmpNvgMZCwSKpwYDwKReP5zAtxJAtzQyZ4T4HMCfE6AW0uAXhDFvk1XN8li5gXc93mws1tWF1Is996dvJ0U8QSJmq6sPTQkC/1vBJIS5g71SFEgWkvsUJIpIUp1PSsUl7r+UM2+yTyS869h1R17/pgVa9CGO96zs1U3IOj+NKI+nnkMSFBQvmhzwT2M0KSFdZWau38z0UWhBsrMqUziJXl4x0ox6+l+fXiPrsKxF9QdEdsNBTgiiLiQS6/CGi91nF9O34L9xHOkD0kIjhf50ud2lCzNgT867azQwCh1N1WCStRxja0BFj3jLKUp/YxopNaw2VWhISo1aaa7hn9bIt4Z/FgRLs2WZ5BW5nitO59tMTKvS2KI16iT1o7pei5xGEOOzJZU2yPEvu/izk60hQf/AZYa07TKeot6hitUVm8UwV+I/tUxXmA6Ldvt/KpiH6nBl6O6G12LM7baqgf32gHVzI82tX6H/uI+4PZC5J584ymDrEPrNhXiaeD4Ps9gsSM8PpCf8/ptCOX+zRxyGx3POW3l5S10s/c6Bc6GrbeHBPljFDpLg6LJh3GQhEJwWwo/ECL0BRf4gLOShW4IgRcmIrL9mGPsiV2flasWxju+o27xtdCOK/YN1Xq06n1uyWtcMAqZKwM3ijERXuCGMnHiHbrgvLC7HVvT1uWiGo2SSFNpTVVod93H1fqQcrzXdavDKo2uV5mprY8x0Q1aA7oTqLLFrn16p2o6pzNGuE4rTM7F85Pq9fWcslMSkVYDfOHYjL+0Gf2c2va++XlhytGx9Ysld3+c5P5MyZtS2kQZEcPMKp1yxNHoK4IFxflSlCgiMrk2I+a8dKcYDXK5jMuLA9TfELMXY/eFVY/qbVQasrHP3PS18TVlSWpo0pcDkvPIdZzYjdDl4En2gNf628z0//3bpnhys727QmabHzb8mDNsgWaN+zkxj4TrMpbEkfQ84TN3+XugJ3Rp/MnsMa9IrslCH3yMAQPuxPTfDT3OnoYpjmhFvxT9TGmd1p+PFa0rfSOKn98qS/VrDORKQMcLPHAjEMxlIKX3NAz0m/GkalCCvv75zTGhTQN+DAAiCWyPBRE4bswDDktvc4s/AmJeghw9BBlwXyALeVNPb3ZB5LF0pZ/4gIlE+i2iYPlXSmoAPZzkZdjNKorzSpdDEHgCGc6oisi/IJMol1Qhtx3LTi2LGr1tXbCg/oLTuivL/geaoHE0VioAAA==&quot;"/>
    <we:property name="creatorSessionId" value="&quot;ad9d0e66-695a-460f-9580-32356fcb25c2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227bOBD9FUMvfXEXoiRSUt5yabfdJG1aBy0WiyKgyJHNrix5JSpNUuQ/9n/2x3ZEyYnvtzquCwTIReZlOHNmeDgc+bslVTFI+O073gfrwDqDAu5AiR6kLd9qW2ndfPT+/en54cfTq3eH56+wORtolaWFdfDd0jzvgv6kipInlRBs/OtL2+JJcsG71aeYJwW0rQHkRZbyRN1BPRi7dF7CfduCm0GS5bwS2dFcQyX2GofjZ1yb/EYILsmFVtfQAaHrZodGcUAD14sjIpkfciEpDivqAUa1mUMq2Wb94yzVXKW4TtVGI+lKFjMOsQT8K0I/rNoLlXaTRuPHuZe3gwoW1UcTKziir7hsJef+Hu0hXgwUPODSp0wACagTLZWl4UZH2c20tIhzLmLf9gha4LgR9SlfKo0bFI5KrRGsKZGu5OB4vsddxIS4hEvpVSJilegGj+j21c0gR1+ih2uRh/KapwKkZRyWQ1H757t1Drwoc+O1V2MdnazMBXyE2HSlWulblJPlEvIrCQg+xkClzkWeYXSYzt+h4H1d9guu70xfL/t2nAMGhbQO7Psv2LLQbsFz2XSNWd2ulz26NRadqHwYR057QukntAbVx/6AcQYRBx+jAn/dwKNkP8A/wRm9QvRSpXVScUDeOoJCQ5J8wxG/vjuW2lc7yIloKFyXkDgKpecJRly2Hw5qtC3TLtJz1wTXr++V2UY1ruCS0tB1nMgNwaXck4Tuhyv++7d1oe7uUOVBnrUebfj1/bHAstopYUBc6bthBLHwfDeQcX28LXTKMaLRzXIljJHjfjnOkrKfrqr8iepfnVRZwuTuHratiX6BVAD5GPJWHzCpqR4wJiGvJqElg3otBcWjteNPn4ZJCzrodZ71zbQms6rCcdqGtlVrgXq2rc/ISGDmYG4ilW5gOExl9e8MYl2j1R/wXBVD7IafTlU1Dld+HLgCrPUHo988PD+qbs8IPFO6BgMt5UlpZuEgrfrwwrEJfWkT/Lm07QPz86KKmNH5izV3f57mbKbmdbzfV57BwXxGDBSY/OqTJmMFE/GboYQ7IpVrCyLOS3dKUD+Ty6S8OAL9DSBtzDSbeg7TkEmmWW+vGqlTDCNr/1TA1lk99n0dyduNnkWzEbZIDV8MQIwEbsB9L4hFaLOIQuSJHdLXALmVT0FS4LVoBnm1d3uoIX/9zctYw/AE2DzHGCg47uHu2IcTbb5Zc0Ow8fftBkG40MF1CEZ+HAhBbSmYL0TABBWw+QUxdgjB+yaxJWcEeMSYC/uRJK2Wr64Q5G8Uchgm77dncA3JtG4P/RsxxchsQxWtYYOq+5tFrT94L1+o/9MnOR30Ds7bVIn9wPE8S/niQHh6ID9nVY1L81kJ+woBuY1j8A2O3ei6YNZeh12nTvFd3N+2z6xLN0VzwMeeIxmPA+54IZOM2mG86wP+qhI7BZUY2r6B1xNV6M6iq0oBydDfMxJVtEx3jPyOGbckRTRF25H0cLt52moQ1d50I89ngc1sNxDcEX5Ihdz8rPT8MGJ2ZAtJIuL5lDHq7+ys7PAEitbpxdtJoy8AR1dkBGbIjqhxs0B9Mk1WzYn3LfVcw6tPlm6usJfaFSXsdM32djPntvWnUfXp3GNA4jnvw5ALxjAa0uV6Rs1dv+7ogFB9ZfpUKuEGI7xtJZB2dQ9Ds+FAGxN7LiMRu15MqO+L2Ftekb7MBu9wC6xWnSrK6J8S0NDJzdAZduDzh+HDIkmD0TrXaKA8lrraD4Oz0cHjWcZYZWx4Zq0aqQ+1ocEk6uaFJjY1CsQKEmlVS7zfKjs8KJBNKnCZaZ60PpS8NrsmBfSVdUCNr2urnRGQVkB0fvHw7QRUaxzXy0A0ivMogfkzH8KqySSe7MBqNPrJ9ZMp3659dsVlmsJevAaYGac7PLyGMVYngZx5QkjKuGtzEgLzguXvgZ4JcBsEuOHd8ZkAnwnwmQC3R4Au8W3psSCOJfi+lB5d/vWkxV8CsonD/NDxkVmJW92whf8D79a3URAzDNSaUxZbIZIPu90cuny487f/4qqOF1W/cHxdpk0Y0o3KOensW+q2I2wFqOsQg1jEMpRMCB5Fti1c17Y3j4c9fS0176sW5q0M9WKbcVsIF0ISeb4MyY/usYAHkS1sh7oe9ai0Q4f9kEgjdVb1Lyt1MeACLngKMwqA6ByO10vZPC8t+7UrlVRztC2YUH2D86FMeH//P7M0H/FPKgAA&quot;"/>
    <we:property name="isFiltersActionButtonVisible" value="true"/>
    <we:property name="isVisualContainerHeaderHidden" value="false"/>
    <we:property name="pageDisplayName" value="&quot;Einführung&quot;"/>
    <we:property name="pageName" value="&quot;25bf85834fb1d679acd5&quot;"/>
    <we:property name="pptInsertionSessionID" value="&quot;A6A230BD-F2C6-46FA-9D8B-1F497BE53422&quot;"/>
    <we:property name="reportEmbeddedTime" value="&quot;2026-02-28T11:50:45.364Z&quot;"/>
    <we:property name="reportName" value="&quot;Pizza_Sales_final&quot;"/>
    <we:property name="reportState" value="&quot;CONNECTED&quot;"/>
    <we:property name="reportUrl" value="&quot;/links/sGqD-Crqko?ctid=7db25319-c04d-4699-88f4-84306cdd3f56&amp;bookmarkGuid=1aecb91c-4e24-44b6-b5d2-2e96b619de34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7AA133ED-C0E8-48E7-802F-B889F01632F4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1354E&quot;"/>
    <we:property name="bookmark" value="&quot;H4sIAAAAAAAAA81YX2/jNgz/KoVf+pIbJP+T3bdre9tta4ficrh7GIqCkuhEN8cObKVtWuR73PfZFxslJ2t7SZs2TbcEQWJJJEX+SFGkbwNt2nEJ0z9ghMFBcIIt3qBRQ6z2RNALqm460ligFGEodawgwRBSRav12Jq6aoOD28BCM0D7xbQTKJ0smvzzvBdAWZ7BwI0KKFvsBWNs2rqC0txgR0xLtpngrBfg9bisG3Ai+xYsOrGXRE5jUoH/FNGOoKy5xD4q280WrAiViDlAmjEJEYs1J7K2I/CarSRxov32R3VlwVS0jZtTUmVcpUomKS8wTyIy3M23phqUc4XveD9Pxw4cMyILHRryG23r5MxmZI5CUQgeFVkYFwwVl2nM18qyeG1lfb0sDQWqvGAi41IzzDLBhVwrDTwKhxNrCawlkamMQrIwDUNMijyRcRJGHjBT2jkecvrhetyQK8nBncgjcsygboyi7bzLGmw7D90GR3U5GfmnDw/m+/WkUfgJC79UWWOnJOnYjC6OnZudLmdNTZHRzS/mhvXVUYM00sEBm53TzJPGtqVR2DwwMxghRaV7GCC52DGRJeNuL4PtnbUPn74soi7sBT839cizzU+Iph2WbegFnRakZy/4OsQGPQ9FlzZ2DsP7Sru/Eyxsh9ZoDI1pF9gtRr8bR0c73xE+A9Zu4PV7DM9PZjD0Ak+M7cAgS6GceC4ismaE+yHjyTvG6fuZsQP/3SfuB/xPax79f5qnKzWnz7n/6TliWBEDLWUvezxPOegjfjOU6ERU+sWCePguWhI0qvU6KfuHaK8Qq7mZ546tbjQ2h1Nv5LFpFomS935wwcvOqpfa/ugf3fnHAdvlZVr7di/zej3b+UHYYmo49wDlhUrSLNEiT3SGTEGUZZvn1ygvdMY4y3OMWYYgMdVrk+F7fQmVQr2UCU8R2kmDL4L3QiPdROUSyn9/3zszNzd0IVPQ7h1ia7EsJ9VgkxypoNHzpSUEQGVQKLrnc0TGwlRkOXvlDSMVg5CADcMk0ypkcSTTV4oUMlLAUy0jEcs0jbKcr7+0/hM/3XmGXEUlD4zstl3EJUviDKmcSOJI8BQxUbthPN2Yf8GksLiI1bcBQHCyPaUSDhImEXKhpdgNAI6JY9iqYWWsLV393CyO6hVRbBuHCLRUqWZMxlEMmRAskruBwy/e75NRC/Zm21YzmfNMxyLHPBKFLsI4T3bD6ued/d56pT4auuQpkqYneInlsm7/rm90ld7j9nfp3mLCdOvzTYPfYNg8qf/bdwF98g7xbarEbuB4Sp3u04Hw9kB+rV0zb2FVvfCMgNxGnfiRaDfKBeWEjlWDulPiaEhV+sOs8EjhOUe1q4J3KxS62lUjLwqOuUKIdQFUaUH8ysIoizSHJM8hypEqYQGiWP/q4tFyOGOJKKh64ynPMM8TpvL1F+32gnlMRQRcOLFLwaQWvt0goErT2v5TrwlaLBcd04omkSyzfS+/7+nWtGf+jde8NXu09TTtr9UlDVH3F3ufru/83Buze03fdruv54F/3nXWq3GsJ7Ydg8IzqHCF0WQZVBr1cwHsOTcaWb4IltnsH+yXFHfdFAAA&quot;"/>
    <we:property name="creatorSessionId" value="&quot;7565b983-fce1-4404-8508-512b26d17afe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81Y21IbORD9FWpeeHG2pLmLN267qQUSCqeShy2K0qXHVnY849JoCIbyf+z/7I9tS2MHiI0NhmTtcpkZqbvVffqo1eIuULoZl3zygY8g2AtOoYFb0HII1U4W9IKqGz74+PHkbP/i5OrD/tkxDtdjq+uqCfbuAsvNAOxn3bS8dEZw8K/LXsDL8pwP3FvBywZ6wRhMU1e81LfQCeOUNS1MewHcjMvacGeyb7kFZ/YaxfEd16a/Rbgil1ZfQx+k7UYLUoQyiynnaU4Ej0isKIo1nYD3bKmIM+2XP6wry3WFy7gxKWROZSpFktICWBJFyrvR6GpQzhy+1/00GTtU9AgjdGiIr7isszOdYjgSsiKjUZGHcUFAUpHGdK0tCzdW1DeL1iADyQqS5VQoAnme0UystcY9CgettQjWgslURCFGmIYhJAVLRJyEkQdMl3aGh5gc34wNphIT3Jk8xMQMaqMlLudTZqDpMnQXHNZlO/JPx4/G+3VrJFxA4acqq+0ELR3p0dWRS7Pz5dzUyIxufD42rL8dGsA3FeyR6SWOrAy2KbUE8yjMYATISvcwAEyxU8JIxt1aGpr7aB8/fZ6zLuwFv5t65NVmW0PhCosx9ILOC/SzF3wZggGvg+xS2s5g2K+U+3MKhe3QGo250c0cu/nbiXZyuPK94DNg7V68f0/heaEHQ2/wVNsODIyUl63XQiGrR7AbEpq8IxS/nwjZ899d1H6kv9rz6P/zPF3qOX4u/U/PCfMlHGiwetmjWckBz/jNUMIdUakXG6Lhu2jB0KhW66zsHoD9BlDNwrx0arVRYA4mPsgjbeaFkvZ+SMHL9qq32vyYH9XlxwHb1WWc+/qg8no/m9lGeMPScOkBYoVM0jxRGUtUDkTyKM83r685SbJCEk5TmgNjCZEs+4XFcKxvb/mVM7uAsuwWmWxSE0vd2P6quthAOafIkl2Bkdm+t9/3cmv46I/4B1x8W1I8D6KOG3mkKE8Y4xEDpEXGs2L9Of4kNxTQoqDAJPBYFTxnhMevPHuJYDRXccaARVmhijBmyVq67atrXklQC1w7A960Bl60m68UYONTLmB5AI2FsmwrPDJ3sHPjI7uEeb31Tr3XyA8jh5NTuIZy0bfv8xtVhQfavizszAd0Nz9bNPiTD81K/39+Q9PH7KDepk5sB45n2LSvJsLPB/JL7S4klg82I+RbHHnvUXaTQizLFreVAdU5cTjEhuNxVXiiXB7OS5urA9tFha7URlwJmSpCRBzFPM8yEontqGR/+OLVjhpubzfKGTdqNrVQvzOKd7oU75I8IQI4y5RY3y78kqiPUGPYyGGlrS3dDd7szEr6N5R4axyoIEmcA4KRxFFGU4BEbgcOeIf7m7cF0vgcG4dVZ9nriCAiiU2jElEWizSNckbXX6K36CB/VfARK1ROKGEMYpIDF5Cq7Qj+33/maceeduceirdGgMucFxIKYACEhGmGzeErW0OBt5AQgQ3DJFcyJHEk0leZ9FaXNf91a5sxl3DOK1jS/2N2eKVAPbfr7zmXtCjXXVvdv/u+3xKm0/8ApkNGBHwUAAA=&quot;"/>
    <we:property name="isFiltersActionButtonVisible" value="true"/>
    <we:property name="isVisualContainerHeaderHidden" value="false"/>
    <we:property name="pageDisplayName" value="&quot;Bestellungen im Zeitverlauf&quot;"/>
    <we:property name="pageName" value="&quot;f0f2c741aa680ba304d1&quot;"/>
    <we:property name="pptInsertionSessionID" value="&quot;A6A230BD-F2C6-46FA-9D8B-1F497BE53422&quot;"/>
    <we:property name="reportEmbeddedTime" value="&quot;2026-02-28T11:51:14.926Z&quot;"/>
    <we:property name="reportName" value="&quot;Pizza_Sales_final&quot;"/>
    <we:property name="reportState" value="&quot;CONNECTED&quot;"/>
    <we:property name="reportUrl" value="&quot;/links/sGqD-Crqko?ctid=7db25319-c04d-4699-88f4-84306cdd3f56&amp;bookmarkGuid=ceec9d27-187f-4fcc-a764-67e0d1e7b067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88526BCA-E682-42C3-A56A-7CBAD14CC8C0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1354E&quot;"/>
    <we:property name="bookmark" value="&quot;H4sIAAAAAAAAA81Y227jNhD9lUAvefEWFCnqkrfc2gJN22CzSB+KIBiRQ5tbWTIkOlf4P/Z/+mMdUjaSrJ04cbJNABs2R8PhzJkzQ1K3kbbdpILrP2CM0U50hB3eoFUjrLeyaBDVvThWDJCLAhNVapkXMpOSnjYTZ5u6i3ZuIwftEN2p7aZQeVsk/PtsEEFVHcPQjwxUHQ6iCbZdU0Nlb7BXpkeuneJsEOHVpGpa8CZPHDj0Zi9IncbehZ8ErQjK2Qs8QeV6aZoUwmTIlVZGpaniqUJS63qF4NlKFW86LL/f1A5sTct4Wal4otIkBq1NVvAUSlF6eWfrYTV3+G7ul+uJB8eOKUKPRvmVlvV2ZjMKRyaJMSzXSZqbEiSULIvX2nJ45crmatlaXurcKJWjIJcUkxCLdK01CCjsTZ0jsJZMlijSBJmOTayEZEUsM+NNGFu5BR7Xh1eTllJJCe5N7uoLqBXqKOSrxa5Pz22031TTcfh3+EB+0kxbhZ8xmD6snXXXZKZptV/Cu3HcNkSKIP3TS7d+pRnhyai53G+RmKCjHTYbrPdhdzhscQhuPjx8cweD9NzqIP95Ws9pKJe9PSPJk7mpiHT7I2jdw8QM+jX2rgPoB7ZdUD0efOf3OwY7O1tUIql/vVdr+xT+sGl759+cEWeBtlpBzrMYYhmrQvHMlMn6Gn26EgTyXCiRKQ0FpiKXOcfNK+F3hG7a4osCP9dIbahaiv8U239gahxuHdubG2rK1Eth7FaUx1rCKWj1/NESAJAXPBOpYaqMWaayvNDlxwBgDzuHVTWthz8seB5z6oQFdVXOS6lT+v0gwf/7bZH2Sdts3UHx1gho2tDpKxgThZYsBwT2ypLKJJcsQw0sz4sccyWleKVJZUScQGYKAUmalAUQWz9Gng5oxqhTo9o6V/nDU7tI1iVpvHW2Uq0o9iyLdZokoJRUH6VYfwn1OR134G7eOupEZ1wmSnBdMGM4CC7k5lF/oJPCM841P/xstflp5d2OAdQCDEt5AjI2TGOmeao3P14bKBKuilSi4bH05hRby655mFYFvr4mZRPq8nDuzS6FrhZYbpS1zp1QQ8L2QcTRGOmyFsDCanG+pLAm/aoWg1LnKDJ3EuyfBD0vxYDBbXRkCZd+yVOopn61cMMjN2chRY9QIyh3GxDjeRDNj4glE3kOSaxp9wHgWark5twAujEankgFKTNCGi3K7H/kxoEdnx/46/D3m85C9kJSdE8Rgk5ZfVqX6NBH+/Df6eJ2zqnHtc04TJu/SfBdbDmGQdR7wfwV4i/aKHFOhVrbRTPerUMhH6FxPVrjCbS2W2C3GP1mvR6tfKf4DFj7QfDvMTw/2+HIPcJxTUrOjnGbs1h+YjF9vjC2Ez7bgfv35j/tuXg/z9OVnvd1Gy53pAwrWwLtAAfzVzNPdIK1KFFF1PrFhmL+SSwZGjd6nZXtPXSXiPX2veb03Fv2W+xeus/Po7fmjXvimtZw1id1daU3U9dNQOEx1Lgi1QQn1Br1c3v+wDcZW1brcuHf9UV3XPsPPCRcPIAUAAA=&quot;"/>
    <we:property name="creatorSessionId" value="&quot;511862f2-54ee-4694-9c45-fa4ccf649134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81Y227bOBD9lUAveXEXFCnqkrfcugskaYO46D4sgmBEDm12ZcmQqFzh/9j/2R/boWRvmjqJE9dtEziRNRoezpw5HIq5C7RtpgXcfIAJBjvBMTZ4i1aNsdxKgkFQ9ua9jx+PTnbPji4+7J4ckrmaOluVTbBzFzioR+g+26aFwoOQ8a/zQQBFcQojf2egaHAQTLFuqhIKe4u9Mz1ydYuzQYDX06KqwUMOHTj0sJfkTvc0d/iboBlBOXuJQ1Sut8ZRJkyCXGllVBwrHiskt6Z36CJ71MVDd9PvV6UDW9I03pYrHqk4CkFrk2Q8hlzk3t7YclTMA74f++lm6lmxE8rQs5F/oWk9zmxG6cgoMoalOopTk4OEnCXhSiyH1y6vrpfR0lynRqkUBYWkmIRQxCvRoGNhr3WOyFqCBGLC8EgqiJkR0miRJx7C2MIt+Lg5vJ7WVEoqcA+5T4UZVbVVNF1XshqbvkJ3wX5VtJPu2+ED+7Bqa4VnaLpHpbPuhpAO7OTiwJfZx3JaV6SM3r6wjaur/RrpTgc7bHZOlmeTbQqrsH6QZjBBUqX/MkIqsR9EmUz7uSw299k+/PZ5oTo+CN7X1aQbNl8ammZYzmEQ9FFQnIPgzzHW2I0hdWnr5jTsltpfjtG4nq3JFGrbLLhb3B1Z70cz3zu+gNb+povvKT7P7GjcAR5b15NBmULRdqPIydkJbnMWyncspM8nxna6zzaNfjD++cjFr4s8fjRy+jnv/gy8MzyigYa6lzuYtxzsFL8eS7QiSv1qoJC/E0tAk0qvQtneQ3eFWM7TPPfDqlpjvXfTJXlg60WjDAfflOB1a7VDbb6tj+7r44nt+zI9+/JV5+3ibOYLYYOt4bwjSOdMpClEoWZ0AZ7ESq7fXw1kEVdZLNHwUGpMtGI/sRlO7e0tXHjYJZZVP8nNOj2xsI0bPtcXGywWEnlkVVBmbtjhDzu/FXrstvivtLhZUbyMol4bURwZFvMIZGiYLyaP9fraiHTCZaQE1xkzhoPgQq7Uxq6+hFKhXhLG7mhU4wgWu8Lml2VnvbB9O33flvP6ymX9DFZHu4mAPnrr1h80Yj0Nl7g/pgb9sDBPyGt/IYXXC+wFwffqylHEETIdmlAJybJQJmZ9Pfxwhl9Q5TekyfX18NKt7xcm++RW+TNkqxWkPAkhlKHKFE9MHq0+3Dx/hIi1yoAlSajjKAKlpNL5+ivhBKFpa3xV4hca6fxWLOX/OzYwce2kAXe7TtdRUOv5o6WslRFhBInJBNBGkxMD6o1kfUAjxo0al9a5wh/f6609bBwWxRV5bJoHgTwVSiRKQ4axSGXK8W3wQAe4v6E1DrdO6a0By61RJ4dNEwBpxhMRG6p/yBKVpNlbkf+86m05+mHJ85DTPpjlinGeSx3T9Y0k/+8/i7LTC+3WPRWbZkBnMqFfwZjItGQpILDvbKiJ5JIlqIHONFmKqZJSfBdkh/rYm3/VumYKCk+hxEde/qk6UGrUL33lH/iQbF6sOrP6//X9f0SYzf4DSMwT1nkUAAA=&quot;"/>
    <we:property name="isFiltersActionButtonVisible" value="true"/>
    <we:property name="isVisualContainerHeaderHidden" value="false"/>
    <we:property name="pageDisplayName" value="&quot;Stündliche Bestelltrends&quot;"/>
    <we:property name="pageName" value="&quot;6493f7e2cdcfc66c26ce&quot;"/>
    <we:property name="pptInsertionSessionID" value="&quot;A6A230BD-F2C6-46FA-9D8B-1F497BE53422&quot;"/>
    <we:property name="reportEmbeddedTime" value="&quot;2026-02-28T11:52:04.885Z&quot;"/>
    <we:property name="reportName" value="&quot;Pizza_Sales_final&quot;"/>
    <we:property name="reportState" value="&quot;CONNECTED&quot;"/>
    <we:property name="reportUrl" value="&quot;/links/sGqD-Crqko?ctid=7db25319-c04d-4699-88f4-84306cdd3f56&amp;bookmarkGuid=ba12c048-3482-4a60-8a39-4a31a8971a00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13E62536-EFA0-4D43-AFC3-679BE751F4AF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1354E&quot;"/>
    <we:property name="bookmark" value="&quot;H4sIAAAAAAAAA9VXzW7kNgx+lcCXXGYL2ZJsObcmWfSyLYLOIpdiEFASlWjrsQ1bzi/mPfo+fbHScqa7ySSZTTYNUsAXU/Qn8eNHir5JrO/bCq5+gyUme8kn7PEavTnDeqdIZkk9mRG0VJgxm+Z5zowolNW02rTBN3Wf7N0kAbpTDMe+H6Aascj4x2KWQFUdwen45qDqcZa02PVNDZW/xsmZlkI34GqW4GVbNR2MkPMAAUfYc3KndzpC+hOnHcEEf45zNGGyOgcFZsYpLvPCcATGBLn1k0M82YMuI3Tc/qCpA/iathltXKScZ9xkpch4oUBYy0Z77+vT6vbAX7/9fNWO5PglRTiyob/QtiPOakXhWEChSsYZk9ZJkxcc1VasgJdBN5ebaIyhMVkhpVBOcs0ERbIVDSIL+0MIRNYGpCwznVkhQOrcYKEE0/IHIYmxUskSWGoYNwKsgu0xPw3JHFPOOoe50CljlEUVIZ2vwm3W9NXHy7YjwZEMJ8if7TnUBm0SVdVhP4noJvkVoR+6yNzHOwvzZugM/o4uLtXBhyvCaTqL3YlFkggJdTzOUdeQhOPi33/tHPnra6qUtmt29rEPWFVDfRr9zpqLgw5JxTbZY6sFWZ7kwEBnb5c2GNCZLJE5qjqTQSqEEsDeBwNfYyYSqMphGV47+BxFIVieMsFZmSkhDdfvI/hj7P6EwQVcq+C/IaDQCjUUAoXNJC+Ywvei/0P64qw3Z7UPoRqvjG5dBBfk8do8QJ4qSx2KWckUKUFSr3kfPPwS8z4sewjXrx61sS7LHF0dpXQ256WE/AcbaiZsboVUjucpaIbIC7OVyAOK5rTpvImHvMvlQVMNy/p7qWypWGCDw57mgQe4m/1vS7r1eHAGVAZ3+J9N++9fRW4PfbceZLLZvdO/TVirxXqkIvcv3wxNt/mezvmKCV5ECfJcZAVNRwqkgdyxUuv05aMRLxVdEqkDXfAs5wQM5VsL+mSE3QjarFl8gYAq34c5tVXs7kScLJEG7UgWVmv1UFjttKvH6NQHiizMI/48+o1WjBzcJJ888TJteQzVMO4Wp/NREDFFj4giOvcvlcRWiiZtAHV4tMoJRT8bwHKn8+Ll2sg10rxoRSZYWTKDEkr5hto49MuTw/FX5v7VubY9UxT9U4KwEOBBLVAbOrz9n3pCAvQ5Br/E3Yyl8gNL6fnM2F58dpPIJtb22UBp9oFvAC0buw1ldx/DBWK9+40qH2me6f3m+bwkRdQNYdopRY92yBcXwxZNLGK4q4dT3Ayhb8HgEdT4QKqJTqjtqKXvK/bZqC6vq225GH/Q/03DavUPqHx/2jUQAAA=&quot;"/>
    <we:property name="creatorSessionId" value="&quot;43b5d54f-c2ec-40c0-868f-a91968f7d6f2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81YzVLjOBB+FcoXLpkt2ZJtmRsEdg/ADDWZmj1sUVRbaieadeyUrQCBynvM++yLbUtOhoEEAhmWJZUKVrvVP1+3Pre5DbRpJyXMPsIYg73gBFu8QaNGWO2kQS+oOvHBp0/Hp/ufjy8+7p8ekbieWFNXbbB3G1hohmi/mnYKpTNCwr/OewGU5RkM3aqAssVeMMGmrSsozQ12ynTLNlOc9wK8npR1A87kwIJFZ/aS1GlNvsPfOHkEZc0lDlDZTloUkGKkCsnjJFUcgTFBam2n4CNbq+JMe/f9urJgKnLjZFyEnEdcRZmIeCpBaM2cvDXVsFwEfLf3y2ziUDFjytChkX8jt87OfE7paEAhM8YZi3URqyTlKDfasnht8/p61RpjqFSUxrGQRcxzJiiTjdbAo3AwtZbAWjGZ5BhLqUUkWJYxhTFksQfMlHaBRz47up40VEoqcGeyT4UZ1o1R5M6XrMG2q9Bt0K/L6dhfHd2TD+ppo/AzFv5WZY2dkaVDM744dGV2sZw1NXVGJ1/KRvVVv0Fa6WCPzc9J8mSybWkUNvfSDMZIXekuhkgldpsok0nny2B7l+39q6/Lrot6we9NPfbbFkdDk4fVHHpBFwXF2Qv+HGGDfg91lzZ2AcN+pd2fEyxsh9Z4Ao1pl9gtV8fG6ZHnO8VnwNotfHyP4fnZDEfe4ImxHRiUKZRTv4uUrBnjbsTC+AML6fuFsT3/3aXd9/Y/HTn//yJP1kZOn3P/486khTU90BJ72cMF5aDv+O1QohNR6RcbCqMPfMXQuNabrOweoL1CrBZpnrttdaOxOZj5JA9NsyTKsPegBC87q95q+7A+uquPA7bjZbr37Sfm9XG2i4PwitRw7gGCmGnUshBShwmwpMiTdHt+5ZlEkYYF5CmPEp6igOwNyXBibm7gwpldQVl1TmbbcGJpWjt4ihdbLJctsuZUUGZ24O0PvN6GfvSP+J968XWb4nkQdb3BExFRCaWEWEFSsCzPw+17IxI60SKWBU9CyBkiT9Vb98ZKzi1NUGtaovcjgH19CZVCveL9FKGdNviis3+hkcakciUKelL+DdPC4s4ZRUnTIs16MLbb9OrEYH9EPHwf/0cZLXrIaG+T1qNk11/24Jad/ViBF2SndBFFBY2QWVzohGcxJL84/kESSs1yYtGYySySMY27G7v6TZrqDw/2dNyCvdmmkxQ0enFrJes0l5hDKlDoKOYpkyjl+8j6kHaMWjWqjLWle/Vqdg6wtViWV6Tx2jgk9LQTLAmZ4IyKL2LF8/eBwytSylMA5FGcISuUSFUEoRBSAHsfACyqPq2G/1nyrGCy0EWBichDxujV+L2cgn++L8tOw8jOHRSvjQCRXSbjDFioGFcCtITNb+dPE2qcRXmkhYA4TxSmUhC5/pJJb3Xd1FZPbTsBhWdQ4ZrBjaoDlUb93HGt50IyebnpfcP9n+bHeDef/wtknd0tNRIAAA==&quot;"/>
    <we:property name="isFiltersActionButtonVisible" value="true"/>
    <we:property name="isVisualContainerHeaderHidden" value="false"/>
    <we:property name="pageDisplayName" value="&quot;Pizzaverkäufe nach Größe&quot;"/>
    <we:property name="pageName" value="&quot;ffa7e2cf83567c3ea004&quot;"/>
    <we:property name="pptInsertionSessionID" value="&quot;A6A230BD-F2C6-46FA-9D8B-1F497BE53422&quot;"/>
    <we:property name="reportEmbeddedTime" value="&quot;2026-02-28T11:52:48.492Z&quot;"/>
    <we:property name="reportName" value="&quot;Pizza_Sales_final&quot;"/>
    <we:property name="reportState" value="&quot;CONNECTED&quot;"/>
    <we:property name="reportUrl" value="&quot;/links/sGqD-Crqko?ctid=7db25319-c04d-4699-88f4-84306cdd3f56&amp;bookmarkGuid=87ffb7cb-ddd0-4ae2-95ac-c1c3217387c8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14352051-1431-4FC1-9641-3D305940D065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1354E&quot;"/>
    <we:property name="bookmark" value="&quot;H4sIAAAAAAAAA+1Y3VLjNhR+FcY33GQ7kvwjmbsC205ntlu2MPSiwzBH0jF469ipLbMEJu/R9+mL9UhOgA0/ISxLuSCTmcTS0fn5zneOJF9GtuwmFUw/whijregDdniBpTnFekNGo6gehnXCMBYiZVqmMeeKpwJotpm4sqm7aOsyctCeoDssux4qr4sG/zwaRVBVe3DinwqoOhxFE2y7poaqvMBBmKZc2+NsFOH5pGpa8Cr3HTj0as9InJ7JBf5DTBbBuPIM99G4YRS1MLGSXCITmYLCFIqTWDcIBM/uFPGqg/mdpnZQ1mTGj2XaptawJMtiLZhmCSTMj3dlfVLNHb5eezCdeHAg2NrunSOXCBT9max7dbMZRVWkIsE0FYIlEoSRCjP7jSo1ZLEwJmU2NSyVeazTzKsoysrNA9HT9+eTlnJAmRlU/mjPoDZoowB0i92A62X0K0LXtwHt919N7Dd9a/B3LMJU7Uo3JT1Na7E9tkioUe68O3ttQ1kNk//+s7FXXlwQeSZts7GNncOq6uuTIHfafNlpkRJL8bPZEY08iIGB1s6nbiGQFwUmNpGpUBxQcZUw+ToQuI6ZQCDiw9g9d/AMU7Aq1gal5CxRGuCVpP8Q27+gLxwuWPB9ANCAObcmi0EmGqmuIcfXAcAurTjtzGldOlf5LtouiuALSTw7ETQWOjPaZiLXyJQgZrwOHH4Oee/HHbiLZ49aQp7H3CTEAUxYYTTLv7Gh8iSJeaG5kRwTzAum1GpCHTSTj6RqkPEih4u9Soyin9pmHITn+2rX6797bKe0YAncxQT9/7T485CmiVexSMKEygyOvUMdDQ+xstnoSri5Kfx1xq7FaZvex4rwCGZ2mqof1ytYMDwEb5YyHw4MNDR3oCixspE38Zu3vj0NNnbLdrGDi2VAHkfDKweaZQcOGgfVxqcehrApv2ScchVtpSHXQ9TiBkiPQJRU/EHFjHOEalu6uVe/LEHVPR+IwXHQFd6/8opWM/85mi3X9KP8uDP2uz1aLuTRy7aVW7ldu7EUfV3jUlMZDUafjZtPjMWnezjektTnGwfYHYrupGmnj2fWGhk9CkVhtciSImWopBaaJyg4vDXAF2mA/K0BvjXAtwb4PzdAany5yIyxqdJ0tQCJiVh5qHR47nRzfvs8aaRUpsA0Ro4WgTMRxyvb6TzK0oRD73eisVlA+QTqVGXn9ulWQ83+ZsTRGNuTQIkuNNHgGoU1GayWGIQ6R5G5/aB/0WwvQ5T+90NJuAwmD6HqA1H9+6JFWc/uYUYQXqPjrAnRwA1uwWQg/CWB7gUWMyXg6dzIlMx0KlVhIM6lKUyWqxfkxm45Pt71L9eWb66LsTVJ0T1ECAsO7uQCtG53/obvAQrQcnTlGDcF4+k7xul7wNhW+G5GQ93Wdm1FXLyLbykaN3aVls1tdF8Q680brLyncd7a1NdLUtB6i5h2SNG9bfLJxbCCE0MVCFQpZHkRM5bEQikpcXUVPHztTvxrrCRBkFwrLDJkGD+9sGxsUGIMmYq5NsLmWuJKbeUYiKpLuoK6u/jc9K6bgME9qPEOXhN3oLZoH9vZRt6Xcn6+eWCBfz9+xbnZ7D+wHanMtBcAAA==&quot;"/>
    <we:property name="creatorSessionId" value="&quot;b274b365-26dc-41df-a7e1-9aa8c29e1649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1YW2/bNhT+K4Fe+uIOFHWhlLdcumFo06Z10D0MQcDLkcNOljSRapMU+R/7P/tjO6KkXBw7ct0sS4cYhkNRh+f68TsMv3pKmyrn52/5HLxt7w0YuAAtT6HYYt7EK7rp3XfvXh/sfHh98nbn4BVOl5XVZWG87a+e5fUM7EdtGp63SnDy9+OJx/P8kM/ap4znBiZeBbUpC57rC+iE8ZWtG7iceHBW5WXNW5VTyy20aj+jOD6jbf+nAC1yafVnmIK03SwIKoOE+QwIjROeySzxUcx0As6zpSKtamd+ryws1wWaaedUIIFBwOMk8IWkKhXMuWF0Mct7h6/XHp1XbVb0HCNssyE+odlWz+UlhhNylQRhCJz5IoEsBgLBqC4LZ1aUZ3e1UUgiHqdZQEgY0CRhDPioNu6ysNtYi8m6ozJOWCwilmSSBymTmYzTpFWR6dz2+RDnr86qGkuJBe5U7mFhZmWtJZpzJavBdBX66u2VeTN3o1e35qdlU0v4AJl7VVhtz1HTvp6f7Ldlbn05rEtERjc/zJ2WX/ZqwCflbZPLY5y5N1iTawn1rTC9OSAq28EMsMTtIoyk6mxpMNfR3h59HFBHJ97PdTl3y/qtodDC3RgmXucF+jnxfjuFGtwaRJfStk/DTqHaP28gs1225hWvtRlyNzy91q0cWr4WXCOt3YPzb1U+P+jZqVP4RtsuGRgpzxu3CoWsnsMLSvzoJfHxe0TItvu+wNW31t/vefDfeR4v9Rw/x+5n0grzJRgwyF52v6cccIjfLEu4Iwr1zYp8+jK4o2heqjEtL3bBfgEo+jCP22VlraDePXdB7ut6IEp/slCCB92rbWo7ZsZ3n25wr/PU9FvhAQ0euxT5isuYUz8MgyQBBXFCxzlxJcNKxhKZQRSAj7q4T2gQPCIdVvrigp+0as1i0LIzcr4JK+ba2Ol9zGggH0CyZF9gZHbq9E+d3AgiXZPv0bhyt2nza4F9HSOYDrYPxsHeHhJu4Pxh4bZe8jvUQcJSGkupokT4SnIGId0cdUrQOMwigloFFX4I1OejqDsqq7eoar2GZRrxZwMYwCIFTIcXOH4/DO7TVN1sfTdTdt39JlfC5U1hx0onCvColZvbzXLA1bo1u2oX1WKl3CEVp3oHMg05thQ08W5NTjwAbpoa1nWgXHTgqLQ833rf8C7sbhNgrbztyNW6i5reSNIaGV19nvh1IVXfAPyxJDrHuchh9corWPV78l9jv96jReabXO2GHfWZFxLUHQJer54rQDpW229m4qwpCshvM8DKfk03w+aGsazs33sD+T0opQ4Y65o4dm8/E75kPoSQZgRb+TMBPgoBbgiyZwJ8JsBnAnwwAiSMp2ngyzD1FYQkk4Kko+fJ+292iIBMxFKomKYCSEIJRKOc+igo+gUMn9tmbri92ARDkteqf/UEcLQQTfefieCAlZRxwFkogAHh6XhDe5Tk7+OKUyNPC21t3l7u1lu7YCzk+ReU+PHLMRpfVyDcDO3VrJDAmE/CRHAeP40C4dnjD95kFrYOkTyg2Jo5gP34lVkdWFeSNMsgVCGLaOJzSPwkJOxplKQHUFPM/kflWB7UQF9xQKWMiIokiVgaiOiJ7I6//xrQU9Xl1nUMP3497omsK0oW0RCiiFISMk4lSyBW33lGiIWKlCRhHAeCEkFCHpLvUum0LrthLBtrKi7hkBew5DoQAcMLBaofj14tTlqXdH80X/fC8PLyHxdpXw7jHAAA&quot;"/>
    <we:property name="isFiltersActionButtonVisible" value="true"/>
    <we:property name="isVisualContainerHeaderHidden" value="false"/>
    <we:property name="pageDisplayName" value="&quot;Top 5 meist- und am wenigsten verkaufte Pizzen&quot;"/>
    <we:property name="pageName" value="&quot;eb2c38717e0268afcf81&quot;"/>
    <we:property name="pptInsertionSessionID" value="&quot;A2A96ABC-E1B9-4D2A-BD01-7E3CBAB3A92E&quot;"/>
    <we:property name="reportEmbeddedTime" value="&quot;2026-03-02T12:15:04.441Z&quot;"/>
    <we:property name="reportName" value="&quot;Pizza_Sales_final&quot;"/>
    <we:property name="reportState" value="&quot;CONNECTED&quot;"/>
    <we:property name="reportUrl" value="&quot;/links/sGqD-Crqko?ctid=7db25319-c04d-4699-88f4-84306cdd3f56&amp;bookmarkGuid=81d7f00a-e992-4176-8a88-996b07831d33&quot;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DE3D4A2D-FAE4-49BC-AF39-B9D421F641B6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01354E&quot;"/>
    <we:property name="bookmark" value="&quot;H4sIAAAAAAAAA9VY204jORD9FdQvecms7L43b0syrBDMKpqMWK1QhHwpJ57tdEdth+Ei/mP+Z39sq90JQy6QAAFlUYS67epy1alTdpXvPKnNJGc3f7IxeIfeGRi4BS1GUBwkXtsrmmEl/ZDTwCdpKPwg9v2E+DhbTqwuC+Md3nmWVUOw59pMWV7rwsGLQdtjed5jw/pNsdxA25tAZcqC5foWGmGcstUU7tseXE/ysmK1yr5lFmq1VyiO72gC/Y1SXJIJq6+gD8I2w0kaKR7KII1FRP2MplHCUcw0As60tSK1brd+pyws0wWuU49FIg58JSjlvsxIFNM4CepxpXM7E+E3n68nFbqHTt9ManQ6aOywrLRguefcqMA0Vt95nTKfjt3T54XxfjmtBHwF5aYKq+0Naurq8WW3dv0e8ehVJaLlxr8gZNYNjsofnQpQRHqH5H6AI0YXw3wG5i+3vjWmmVwLqOpQ8e8IiXNgDBiq+kEyy5wfk2YlDc18Kd00ODfvvDONrje6z1k+rdW2jpjRooUW4d+ghjufR2RFnbGIjO07K/tOboNyx5SZ6trlJuSIxvdHQXXCxi23W4hxSZyQnKaCSEL8JBJU+pBEkXPmObCZM+9oai0a8BhypzIMw1iGIuFRFDOZUdTK36hSUS64ECJkXPnAgyxQciNbf5dXrBDIn2WqfgFmphVsC2Sf5WAOTnsny0j2AKUxqYbgRNbQtv0OqTPRt7fsslZrlg0SzSI3r0mgiYbOiFV2EXx8qSRURzcO2K6u5uz320vGvh+odd6tTY3O3N2XJ8d2INagTT56zbb3t1P+foA6t1iFh9c8eRa8mu9YL/PuyfWbCTzI9Fi7OV1IuEZOtr0ciqEdeYd0thmFvooUYYxFKU8SJfBAExt3DgvXlpfXq5uGFDILE6VEwFUgMj9M082bxt7naa6N7T932P2Pjqhts9BxIxaQ4c6fAVX4D0gm6Ou5ESZCpSFnKvJlnEiusuAjufHU2fww9gHVj8FK1nZn5eczFMDPweoxtHxCo0+E4u8bIYfu5wojhKKQL1ZE/U/BiqKtKjKwPwCK1iNWPnFG0eUz6mVBclpXiCmbED15KO28XpuNNVkgaEqolCylikQklXEUBm+srVgYEJkkDPOBSZVRCALyhsRS2FKkNEqoCEIS0QzSZKM2PcbTaVVXFEcUS0kaZiSJgwSiJPm4qs9F/1IC9kz5Cgn+AMPGdjo2zN6+Jl8Fq+RsasXrmLJMEBVjUZ4QjA12Ztl+eP3vz4Me7tjYMeNOcnAExkKeT4vhrhEQMaWQCiAU23CgXPKQ7AcCv3xGEIaOBLt2PpNCEGx0MHEw03ma8SzeD+fPofqHTZWFOQveBwBfBkr5hCR+KITPaN2d7gcAXfxiZMSo0Nbm9dVRNU+CHyixaxyQ+pFiLMCyVWQyjRW25m/c6kOGtY7AslqkKfcJkIh/5KXP9i3CLssfTNWmhlipgBq3F5/O5/dw2OAeV+XYfTa7MzS4whpn2l5jBqlrgr+QFTA7/Qup7QyQkyWQXlAgNC9u+eXObt7DHRxryKVpuseHAuRiff3Uaj0qu1uti3mlPagrqsGgqamcpj29NqtvUd+tJdmWozUnBcM9QB477nSb2+UTC+NmWe1KFSNQwYlscmWMTbc288yZv51iP+y64TNQdodJtYYdbe+rHo7sU0F7lhlNS71wh3462xkwGoOZwLoELKfWTJiAHitgTfwx0qyQIDdE/aETbde5r3m+iYMLNLm//w/7I1JHARgAAA==&quot;"/>
    <we:property name="creatorSessionId" value="&quot;6c8912ff-f7a8-4e14-92cc-8c053ba959e6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9VY227bOBD9FUMvflEXpO7qWy7NIkjSGnHRxaIwAooc2uzKkiHSbZLC/7H/sz+2Q8pu4tixnTRJU8MwLGo45Jw5PJrRd08oPSnZ1Xs2Bu+tdwoarkHxEVSd1PO9qh3e//Dh5Gzv/OTi/d7ZOxyuJ0bVlfbefvcMa4ZgPik9ZaV1goOfB77HyrLHhvZKslKD702g0XXFSnUNrTHeMs0UZr4Hl5Oybph12TfMgHX7Fc3xGtemf1CKSzJu1FfoAzftcJrFsohEmCU8pkFOszgt0Ey3Bm5ra02sb7f+QV0Zpipcx45FktIio3FKeRiRmOaQpXZcq2pYznd8M/fj1cTCosYYooWj+ILLWj+zGcbDopCINGUyi5iQOYUwJFt9Gbg0RX256o3TjFAhWEYliUkmkjgKt3pjDoX9qTEI1orLKOW4t4LJOBBJKgqZh8K6kKo0czyKq3eXkwZziRluXR5gZoZ1ozgu53LWgG5T9N07qMvp2P17tzTer6cNh3OQ7lZllLlCT4dqfHFo82z30mtqpEY7vhgb1d8OGsAr3BWZDXBkY7C6VByapTC9MSAt7Z8hYIrtJIxk0q6lQN9Eu/zv04J2ge8dNfXYTZufDYErrMbge+0ucJ++99cIGnBzkF1CmTkMe5WD9xSkadEaT1ij9AK7xdWJsna48o3hDrC2F25/9+F5roYj5/BUmRYMjJSVUzcLjYwaQzcgNH5DKH4/EvLWfbs4e2n+5p2Hv27nydqd42fgfnxrzNZwQKN8mcO55oBj/ONQwhNRiQc7osGbcMXRuBbbvHT3wXwDqOZhDuy0uhHQ7F+5IA9VsxBK6t9JwcPOqvOq7+ZHtPmxwLa6jPe+3FJet089PwhPKA2DVr4SDnkR5jlQiT9Ack4fr6+CizxKpeRhIUOeB1GWvaQYTtT1NbuwbldQ5u0iV4/RxFJp09+kixrKBUXWnAqMzPSd/76z28JH94y/xcWnJcVuEM25EchYEsZYnBVpKjnWAPzx3JC04AXnPGKFDAApF8rt3NgTX1nFQawQ4wyYnjawa9h9VoLunPSO7wbdA7TG4mUIzmQNPfzfh6gTBQcjFOFl8O+Vs+CunD0fqPeq28Ei3Oejsm9P5Muu6Xt/O+fPB6gLizVYTS0Oz1JUC315WHT3rt/ewIZBjZW7hzUKXCInfa+EamhG+Gyci0bMkzCQHDuAQOQkTmiShq+gHj7Dfsk8eUF8TyW0U9XBtOKLmsP/nR4h2yCePzwYdkMcnxk8y4qAAImLl+TB7lR+nQ2Svt0g3QSzS4d0fAekB+T4Rxexom69hdZ0jhSUQrcq94NDn9eTvNu9JZjd7ueFRg4s8QeD7T3Frz5J9q3Ksx2kXTlqOckZH4E4ctw5bF8zHRsYt8sqV0hpjg6ORXtWNvWW5IG95Q7Pp1V2bO43NzOj7SWWXqadzJUBs+EykUUQS8ZC7DB4LrJEQhpvrU03v8kJRChlQEgaRJwHjHIiyIsVqK5EuxBgmCpXDt8hzhhpPqqUMaV9odh09kEbKMtvaPEYFeOsEfNbKzjkKNsEy/Qc7MuyIsuLPHkdOKBg/sOm0kCnh+SBqjMEzcZPDgBPKIWMA6EEaUYLUUSvhAjzrE+r4bMFn1CWcyITJH9KopBg/Za/juD/+3eRdhT1zg0UT42AKGhmzz4J0phTEaCy/Ky0RFGUiIinRRwnTOQUvRY/6TJOYopOaZSTNAlTiNP05drpjXn60/FyOtbMXD9lbp6tj31ING3BMltf/tVToyeMQ49VsKb6QMgZ9k1i1+rdt7iootxWAS0VKbPZ/x/xyfCIGgAA&quot;"/>
    <we:property name="isFiltersActionButtonVisible" value="true"/>
    <we:property name="isVisualContainerHeaderHidden" value="false"/>
    <we:property name="pageDisplayName" value="&quot;Umsatz nach Kategorie und Größe&quot;"/>
    <we:property name="pageName" value="&quot;785fb4d386c51291857b&quot;"/>
    <we:property name="pptInsertionSessionID" value="&quot;A6A230BD-F2C6-46FA-9D8B-1F497BE53422&quot;"/>
    <we:property name="reportEmbeddedTime" value="&quot;2026-02-28T11:54:16.582Z&quot;"/>
    <we:property name="reportName" value="&quot;Pizza_Sales_final&quot;"/>
    <we:property name="reportState" value="&quot;CONNECTED&quot;"/>
    <we:property name="reportUrl" value="&quot;/links/sGqD-Crqko?ctid=7db25319-c04d-4699-88f4-84306cdd3f56&amp;bookmarkGuid=ffe0fbbe-2153-4b9a-9265-dd2eaeeedc3d&quot;"/>
  </we:properties>
  <we:bindings/>
  <we:snapshot xmlns:r="http://schemas.openxmlformats.org/officeDocument/2006/relationships"/>
</we:webextension>
</file>

<file path=ppt/webextensions/webextension8.xml><?xml version="1.0" encoding="utf-8"?>
<we:webextension xmlns:we="http://schemas.microsoft.com/office/webextensions/webextension/2010/11" id="{8B5C66EC-5640-449B-9882-B8029193B332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2F1F17&quot;"/>
    <we:property name="bookmark" value="&quot;H4sIAAAAAAAAA52SwW7jIBCGX6XiHK2GAk7ocfcarSp11UvVwwDjlBXBlo2rtFHefQdcqYetFKkXwwzD9/+M5yxCnMeEb7/xSOJO7Gmmd4r+hfLNVmxEXtMUXGegt8p2VgVCBQr4dBhLHPIs7s6i4HSg8hjnBVNlcfLpeSMwpXs81KjHNNNGjDTNQ8YU32kt5qMyLXTZCDqNaZiwIh8KFqrYVy7nmC3IH4oV0Zf4Sg/ky5o1vTdgOxdIB+VNp7Wstue1oDn7sqSim/yvIReMmWVqTlk02vQ9WElOAWhnW+0c8yF9GP68++dtrM3BpvVzKYUtcVPcX1avuMulvkpZcNsOpVGdBJAetL2KLHQqbjj9T4OdUrueQicNgzptrfHfp22BG4PKkgYLYbtTPemrtHjkH/rFOyXuLHlvb1Fr60ACwfdYDfeZEUfi0aqbYSnziJ7uMXP8dBbjNPA8lUitjucHc6DwsZ/quo+FplX4EdNSNdsgiibCXqJLdOVCHU/RbD3Xzz/IEdnXMwMAAA==&quot;"/>
    <we:property name="creatorSessionId" value="&quot;c2872fab-0600-4064-adb5-753dc3dd096c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52S30vDMBDH/xXJ85DEpO2yNxWf3A9R8UWGXNPrjGRpaVKZjv3vXlphoMLAlyb37eXzveRuzyobWgcfS9gim7E5BvxEa17RnxVswvwoX61Wt4vL+9uX5eXihuSmjbbxgc32LEK3wfhkQw8uQUh8Xk8YOHcHmxTV4AJOWItdaDw4+4ljMv2KXY+HCcNd65oOEvIhQsSEfad0islbnEtyBBPtOz6giaOa1SbjOi8rVJU0Wa6USPWGMWGo7M+UhB7srxsfwXqySRoKmGo0Rl+AUrrkgiNPerB+474LPp59/GjTq9gt3TC9RvlGtolzONB1Ck6uIDUqrnlVTGWN6r8sPpVyWmOVi8xwlSutM3OSFXEXy2b3m4ZS87LIQWQyF5wLQur/06SGTGV1zbXAUnKuSl2cpMHQn6s+RmrjD+RAPSpsizRaadP0MbRg8A48xc971nYNzVO0ODZv14KvsPred2md24jd6P8Erk/WwyCywYRKsqXDEwfSeLKhrHX6fAFd/OJ4LAMAAA==&quot;"/>
    <we:property name="isFiltersActionButtonVisible" value="true"/>
    <we:property name="isVisualContainerHeaderHidden" value="false"/>
    <we:property name="pageDisplayName" value="&quot;Fazit&quot;"/>
    <we:property name="pageName" value="&quot;5fc5096bde4d3c564417&quot;"/>
    <we:property name="pptInsertionSessionID" value="&quot;A6A230BD-F2C6-46FA-9D8B-1F497BE53422&quot;"/>
    <we:property name="reportEmbeddedTime" value="&quot;2026-02-28T11:54:53.660Z&quot;"/>
    <we:property name="reportName" value="&quot;Pizza_Sales_final&quot;"/>
    <we:property name="reportState" value="&quot;CONNECTED&quot;"/>
    <we:property name="reportUrl" value="&quot;/links/sGqD-Crqko?ctid=7db25319-c04d-4699-88f4-84306cdd3f56&amp;bookmarkGuid=7f032394-7ed5-4d46-a8e8-2f06c6ba1059&quot;"/>
  </we:properties>
  <we:bindings/>
  <we:snapshot xmlns:r="http://schemas.openxmlformats.org/officeDocument/2006/relationships"/>
</we:webextension>
</file>

<file path=ppt/webextensions/webextension9.xml><?xml version="1.0" encoding="utf-8"?>
<we:webextension xmlns:we="http://schemas.microsoft.com/office/webextensions/webextension/2010/11" id="{F19BB734-06D9-477C-9230-7CF0EB837DEF}">
  <we:reference id="wa200003233" version="2.0.0.3" store="de-DE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7VTTW/bMAz9K4POxuB8GF1zS71ghzZt0Ay9DEFAy0yiQpYMSc5qB/7vo+im69YC26W+WCKfHh8fpZMola81tLdQoZiJG/TYoZIHNJ8uRCLMEL66u7tezu+vt7fz5YLCtg7KGi9mJxHA7TE8KN+AjiQU/LFJBGi9gn3c7UB7TESNzlsDWnU4gCkVXIN9IvCp1tZBpFwHCBhpjwSnPdUefZ5QRZBBHXGNMgzR3WgK00tZyAwglZMigykSzA8AVvYuJFJz+dyaAMpQmRj7sstSyMo0vciKyTiFcTa6ZA6lwzOkaBdPtaPuqOe2jq7MyyMYiaXgFhz6QfFJLBF847jY4o/E2jZO4j3uOGWCCi3xWFei25ZIesiVnhxZOUt+cfIbeqhCU3kIHecO9mfukGwqxSztkxc1OYX21ikJ+o2g3OqmMv+rp1ZdB9tI+0aNHIq07yjZUMQrs9fP8/1t9fdBoGQR+QFciFeoeKRZRWfpHDtw1bK5X5U7T3mc/KX3A43tN+dLRpjHV9coP7ccxX2EkZuev9eWiArpVcWFbYKvQeIKDLKCeuBQyDgaM5gyDoDXLv5vFF3Zwf8H0E20nt+g4CI0ElVo/MeB+DIFy2J1vwA8vY8yJwQAAA==&quot;"/>
    <we:property name="creatorSessionId" value="&quot;035a8804-3d8e-4bc8-ba12-3a77fa15f87a&quot;"/>
    <we:property name="creatorTenantId" value="&quot;7db25319-c04d-4699-88f4-84306cdd3f56&quot;"/>
    <we:property name="creatorUserId" value="&quot;1003200556EECD41&quot;"/>
    <we:property name="datasetId" value="&quot;8f11f2b3-c1ca-45ca-8312-c6eaf98afbb8&quot;"/>
    <we:property name="embedUrl" value="&quot;/reportEmbed?reportId=8835a16b-bee0-4dce-9b61-f3fd2d8d9689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7VTTW/bMAz9K4POxuB8GF1zS71ghzZt0Ay9DEFAy0yiQpYMSc5qB/7vo+im69YC26W+WCKfHh8fpZMola81tLdQoZiJG/TYoZIHNJ8uRCLMEL66u7tezu+vt7fz5YLCtg7KGi9mJxHA7TE8KN+AjiQU/LFJBGi9gn3c7UB7TESNzlsDWnU4gCkVXIN9IvCp1tZBpFwHCBhpjwSnPdUefZ5QRZBBHXGNMgzR3WgK00tZyAwglZMigykSzA8AVvYuJFJz+dyaAMpQmRj7sstSyMo0vciKyTiFcTa6ZA6lwzOkaBdPtaPuqOe2jq7MyyMYiaXgFhz6QfFJLBF847jY4o/E2jZO4j3uOGWCCi3xWFei25ZIesiVnhxZOUt+cfIbeqhCU3kIHecO9mfukGwqxSztkxc1OYX21ikJ+o2g3OqmMv+rp1ZdB9tI+0aNHIq07yjZUMQrs9fP8/1t9fdBoGQR+QFciFeoeKRZRWfpHDtw1bK5X5U7T3mc/KX3A43tN+dLRpjHV9coP7ccxX2EkZuev9eWiArpVcWFbYKvQeIKDLKCeuBQyDgaM5gyDoDXLv5vFF3Zwf8H0E20nt+g4CI0ElVo/MeB+DIFy2J1vwA8vY8yJwQAAA==&quot;"/>
    <we:property name="isFiltersActionButtonVisible" value="true"/>
    <we:property name="isVisualContainerHeaderHidden" value="false"/>
    <we:property name="pageDisplayName" value="&quot;Umsatz (Tooltip)&quot;"/>
    <we:property name="pageName" value="&quot;f14a49cbc5aa0c3b5a4e&quot;"/>
    <we:property name="pptInsertionSessionID" value="&quot;A6A230BD-F2C6-46FA-9D8B-1F497BE53422&quot;"/>
    <we:property name="reportEmbeddedTime" value="&quot;2026-02-28T11:55:28.825Z&quot;"/>
    <we:property name="reportName" value="&quot;Pizza_Sales_final&quot;"/>
    <we:property name="reportState" value="&quot;CONNECTED&quot;"/>
    <we:property name="reportUrl" value="&quot;/links/sGqD-Crqko?ctid=7db25319-c04d-4699-88f4-84306cdd3f56&amp;bookmarkGuid=6e47a329-0096-47b5-9287-3562f64b8ff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361</Words>
  <Application>Microsoft Office PowerPoint</Application>
  <PresentationFormat>Bildschirmpräsentation (16:9)</PresentationFormat>
  <Paragraphs>115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Arial</vt:lpstr>
      <vt:lpstr>Consolas</vt:lpstr>
      <vt:lpstr>Segoe Fluent Icons</vt:lpstr>
      <vt:lpstr>Segoe UI</vt:lpstr>
      <vt:lpstr>Segoe UI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Mesut Karagöz</cp:lastModifiedBy>
  <cp:revision>45</cp:revision>
  <dcterms:created xsi:type="dcterms:W3CDTF">2026-02-27T22:11:42Z</dcterms:created>
  <dcterms:modified xsi:type="dcterms:W3CDTF">2026-03-08T14:14:59Z</dcterms:modified>
</cp:coreProperties>
</file>